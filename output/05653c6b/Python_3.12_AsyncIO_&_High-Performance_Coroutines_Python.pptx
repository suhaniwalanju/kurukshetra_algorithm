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sam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Python 3.12.8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AsyncIO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Coroutines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Writing Simple Async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Introduction to AsyncIO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Introduction to AsyncIO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AsyncIO for non-blocking I/O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async def main():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PYTHON 3.12.8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56B6C2"/>
                </a:solidFill>
                <a:latin typeface="Consolas"/>
              </a:rPr>
              <a:t>/</a:t>
            </a:r>
            <a:r>
              <a:rPr sz="2000">
                <a:solidFill>
                  <a:srgbClr val="56B6C2"/>
                </a:solidFill>
                <a:latin typeface="Consolas"/>
              </a:rPr>
              <a:t>/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Introduction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to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AsyncIO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56B6C2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56B6C2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Example: async def main():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Example: async def main():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PYTHON 3.12.8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async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def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</a:t>
            </a:r>
            <a:r>
              <a:rPr sz="2000">
                <a:solidFill>
                  <a:srgbClr val="F0F4FA"/>
                </a:solidFill>
                <a:latin typeface="Consolas"/>
              </a:rPr>
              <a:t>    </a:t>
            </a:r>
            <a:r>
              <a:rPr sz="2000">
                <a:solidFill>
                  <a:srgbClr val="E5C07B"/>
                </a:solidFill>
                <a:latin typeface="Consolas"/>
              </a:rPr>
              <a:t>print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Hello, AsyncIO!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Understanding Coroutines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Understanding Coroutines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Coroutines are lightweight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async def coroutine():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PYTHON 3.12.8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56B6C2"/>
                </a:solidFill>
                <a:latin typeface="Consolas"/>
              </a:rPr>
              <a:t>/</a:t>
            </a:r>
            <a:r>
              <a:rPr sz="2000">
                <a:solidFill>
                  <a:srgbClr val="56B6C2"/>
                </a:solidFill>
                <a:latin typeface="Consolas"/>
              </a:rPr>
              <a:t>/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Understanding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Coroutines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56B6C2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56B6C2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Example: async def coroutine():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Example: async def coroutine():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PYTHON 3.12.8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async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def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61AFEF"/>
                </a:solidFill>
                <a:latin typeface="Consolas"/>
              </a:rPr>
              <a:t>coroutine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ABB2BF"/>
                </a:solidFill>
                <a:latin typeface="Consolas"/>
              </a:rPr>
              <a:t>:</a:t>
            </a:r>
            <a:r>
              <a:rPr sz="1700">
                <a:solidFill>
                  <a:srgbClr val="F0F4FA"/>
                </a:solidFill>
                <a:latin typeface="Consolas"/>
              </a:rPr>
              <a:t>\</a:t>
            </a:r>
            <a:r>
              <a:rPr sz="1700">
                <a:solidFill>
                  <a:srgbClr val="F0F4FA"/>
                </a:solidFill>
                <a:latin typeface="Consolas"/>
              </a:rPr>
              <a:t>n</a:t>
            </a:r>
            <a:r>
              <a:rPr sz="1700">
                <a:solidFill>
                  <a:srgbClr val="F0F4FA"/>
                </a:solidFill>
                <a:latin typeface="Consolas"/>
              </a:rPr>
              <a:t>    </a:t>
            </a:r>
            <a:r>
              <a:rPr sz="1700">
                <a:solidFill>
                  <a:srgbClr val="C678DD"/>
                </a:solidFill>
                <a:latin typeface="Consolas"/>
              </a:rPr>
              <a:t>await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asyncio</a:t>
            </a:r>
            <a:r>
              <a:rPr sz="1700">
                <a:solidFill>
                  <a:srgbClr val="56B6C2"/>
                </a:solidFill>
                <a:latin typeface="Consolas"/>
              </a:rPr>
              <a:t>.</a:t>
            </a:r>
            <a:r>
              <a:rPr sz="1700">
                <a:solidFill>
                  <a:srgbClr val="F0F4FA"/>
                </a:solidFill>
                <a:latin typeface="Consolas"/>
              </a:rPr>
              <a:t>sleep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D19A66"/>
                </a:solidFill>
                <a:latin typeface="Consolas"/>
              </a:rPr>
              <a:t>1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F0F4FA"/>
                </a:solidFill>
                <a:latin typeface="Consolas"/>
              </a:rPr>
              <a:t>\</a:t>
            </a:r>
            <a:r>
              <a:rPr sz="1700">
                <a:solidFill>
                  <a:srgbClr val="F0F4FA"/>
                </a:solidFill>
                <a:latin typeface="Consolas"/>
              </a:rPr>
              <a:t>n</a:t>
            </a:r>
            <a:r>
              <a:rPr sz="1700">
                <a:solidFill>
                  <a:srgbClr val="F0F4FA"/>
                </a:solidFill>
                <a:latin typeface="Consolas"/>
              </a:rPr>
              <a:t>    </a:t>
            </a:r>
            <a:r>
              <a:rPr sz="1700">
                <a:solidFill>
                  <a:srgbClr val="E5C07B"/>
                </a:solidFill>
                <a:latin typeface="Consolas"/>
              </a:rPr>
              <a:t>print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98C379"/>
                </a:solidFill>
                <a:latin typeface="Consolas"/>
              </a:rPr>
              <a:t>'</a:t>
            </a:r>
            <a:r>
              <a:rPr sz="1700">
                <a:solidFill>
                  <a:srgbClr val="98C379"/>
                </a:solidFill>
                <a:latin typeface="Consolas"/>
              </a:rPr>
              <a:t>Corouti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Writing Simple Async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Writing Simple Async Code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Combining coroutines with main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async def main():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PYTHON 3.12.8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56B6C2"/>
                </a:solidFill>
                <a:latin typeface="Consolas"/>
              </a:rPr>
              <a:t>/</a:t>
            </a:r>
            <a:r>
              <a:rPr sz="2000">
                <a:solidFill>
                  <a:srgbClr val="56B6C2"/>
                </a:solidFill>
                <a:latin typeface="Consolas"/>
              </a:rPr>
              <a:t>/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Example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Writing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Simple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Async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Code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56B6C2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56B6C2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Example: async def main():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Example: async def main():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PYTHON 3.12.8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async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def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61AFEF"/>
                </a:solidFill>
                <a:latin typeface="Consolas"/>
              </a:rPr>
              <a:t>main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:</a:t>
            </a:r>
            <a:r>
              <a:rPr sz="1900">
                <a:solidFill>
                  <a:srgbClr val="F0F4FA"/>
                </a:solidFill>
                <a:latin typeface="Consolas"/>
              </a:rPr>
              <a:t>\</a:t>
            </a:r>
            <a:r>
              <a:rPr sz="1900">
                <a:solidFill>
                  <a:srgbClr val="F0F4FA"/>
                </a:solidFill>
                <a:latin typeface="Consolas"/>
              </a:rPr>
              <a:t>n</a:t>
            </a:r>
            <a:r>
              <a:rPr sz="1900">
                <a:solidFill>
                  <a:srgbClr val="F0F4FA"/>
                </a:solidFill>
                <a:latin typeface="Consolas"/>
              </a:rPr>
              <a:t>    </a:t>
            </a:r>
            <a:r>
              <a:rPr sz="1900">
                <a:solidFill>
                  <a:srgbClr val="C678DD"/>
                </a:solidFill>
                <a:latin typeface="Consolas"/>
              </a:rPr>
              <a:t>await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coroutine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F0F4FA"/>
                </a:solidFill>
                <a:latin typeface="Consolas"/>
              </a:rPr>
              <a:t>\</a:t>
            </a:r>
            <a:r>
              <a:rPr sz="1900">
                <a:solidFill>
                  <a:srgbClr val="F0F4FA"/>
                </a:solidFill>
                <a:latin typeface="Consolas"/>
              </a:rPr>
              <a:t>n</a:t>
            </a:r>
            <a:r>
              <a:rPr sz="1900">
                <a:solidFill>
                  <a:srgbClr val="F0F4FA"/>
                </a:solidFill>
                <a:latin typeface="Consolas"/>
              </a:rPr>
              <a:t>    </a:t>
            </a:r>
            <a:r>
              <a:rPr sz="1900">
                <a:solidFill>
                  <a:srgbClr val="E5C07B"/>
                </a:solidFill>
                <a:latin typeface="Consolas"/>
              </a:rPr>
              <a:t>print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'</a:t>
            </a:r>
            <a:r>
              <a:rPr sz="1900">
                <a:solidFill>
                  <a:srgbClr val="98C379"/>
                </a:solidFill>
                <a:latin typeface="Consolas"/>
              </a:rPr>
              <a:t>Done!</a:t>
            </a:r>
            <a:r>
              <a:rPr sz="1900">
                <a:solidFill>
                  <a:srgbClr val="98C379"/>
                </a:solidFill>
                <a:latin typeface="Consolas"/>
              </a:rPr>
              <a:t>'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Exercise: Write a simple async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Exercise: Write a simple async program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Write an async program that prints 'Hello, AsyncIO!'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PYTHON 3.12.8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async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def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61AFEF"/>
                </a:solidFill>
                <a:latin typeface="Consolas"/>
              </a:rPr>
              <a:t>main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ABB2BF"/>
                </a:solidFill>
                <a:latin typeface="Consolas"/>
              </a:rPr>
              <a:t>:</a:t>
            </a:r>
            <a:r>
              <a:rPr sz="1700">
                <a:solidFill>
                  <a:srgbClr val="F0F4FA"/>
                </a:solidFill>
                <a:latin typeface="Consolas"/>
              </a:rPr>
              <a:t>\</a:t>
            </a:r>
            <a:r>
              <a:rPr sz="1700">
                <a:solidFill>
                  <a:srgbClr val="F0F4FA"/>
                </a:solidFill>
                <a:latin typeface="Consolas"/>
              </a:rPr>
              <a:t>n</a:t>
            </a:r>
            <a:r>
              <a:rPr sz="1700">
                <a:solidFill>
                  <a:srgbClr val="F0F4FA"/>
                </a:solidFill>
                <a:latin typeface="Consolas"/>
              </a:rPr>
              <a:t>    </a:t>
            </a:r>
            <a:r>
              <a:rPr sz="1700">
                <a:solidFill>
                  <a:srgbClr val="E5C07B"/>
                </a:solidFill>
                <a:latin typeface="Consolas"/>
              </a:rPr>
              <a:t>print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98C379"/>
                </a:solidFill>
                <a:latin typeface="Consolas"/>
              </a:rPr>
              <a:t>'</a:t>
            </a:r>
            <a:r>
              <a:rPr sz="1700">
                <a:solidFill>
                  <a:srgbClr val="98C379"/>
                </a:solidFill>
                <a:latin typeface="Consolas"/>
              </a:rPr>
              <a:t>Hello, AsyncIO!</a:t>
            </a:r>
            <a:r>
              <a:rPr sz="1700">
                <a:solidFill>
                  <a:srgbClr val="98C379"/>
                </a:solidFill>
                <a:latin typeface="Consolas"/>
              </a:rPr>
              <a:t>'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F0F4FA"/>
                </a:solidFill>
                <a:latin typeface="Consolas"/>
              </a:rPr>
              <a:t>\</a:t>
            </a:r>
            <a:r>
              <a:rPr sz="1700">
                <a:solidFill>
                  <a:srgbClr val="F0F4FA"/>
                </a:solidFill>
                <a:latin typeface="Consolas"/>
              </a:rPr>
              <a:t>n</a:t>
            </a:r>
            <a:r>
              <a:rPr sz="1700">
                <a:solidFill>
                  <a:srgbClr val="F0F4FA"/>
                </a:solidFill>
                <a:latin typeface="Consolas"/>
              </a:rPr>
              <a:t>    </a:t>
            </a:r>
            <a:r>
              <a:rPr sz="1700">
                <a:solidFill>
                  <a:srgbClr val="C678DD"/>
                </a:solidFill>
                <a:latin typeface="Consolas"/>
              </a:rPr>
              <a:t>await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coroutine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Summary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AsyncIO for non-blocking I/O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coroutines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Combining coroutines with main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Closing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Q&amp;A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