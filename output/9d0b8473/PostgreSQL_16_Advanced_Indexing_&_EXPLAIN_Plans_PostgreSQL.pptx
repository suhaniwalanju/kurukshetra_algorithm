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PostgreSQL 16 Advanced Indexing &amp; EXPLAIN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23849"/>
          </a:xfrm>
          <a:prstGeom prst="roundRect">
            <a:avLst/>
          </a:prstGeom>
          <a:solidFill>
            <a:srgbClr val="002147"/>
          </a:solidFill>
          <a:ln w="19050">
            <a:solidFill>
              <a:srgbClr val="001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sam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160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PostgreSQL 16.6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PostgreSQL 16 Advanced Indexing &amp; EXPLAIN Plans: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PostgreSQL 16 Advanced Indexing &amp; EXPLAIN Plans: Part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2599"/>
            <a:ext cx="7848599" cy="1904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Introduction to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Introduction to Indexing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Indexes speed up SELECT queries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Types: B-tree, Hash, GiST, SP-GiST, BRIN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56B6C2"/>
                </a:solidFill>
                <a:latin typeface="Consolas"/>
              </a:rPr>
              <a:t>//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Introduction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to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Indexing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System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C678DD"/>
                </a:solidFill>
                <a:latin typeface="Consolas"/>
              </a:rPr>
              <a:t>out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Types of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Types of Indexes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B-tree: Ordered and balanced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Hash: Direct key lookup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GiST: Geometric and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56B6C2"/>
                </a:solidFill>
                <a:latin typeface="Consolas"/>
              </a:rPr>
              <a:t>//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Types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of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Indexes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System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C678DD"/>
                </a:solidFill>
                <a:latin typeface="Consolas"/>
              </a:rPr>
              <a:t>out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Creating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Creating Indexes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INDEX statement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 name and options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CREATE INDEX idx_name ON table_name (column_name)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56B6C2"/>
                </a:solidFill>
                <a:latin typeface="Consolas"/>
              </a:rPr>
              <a:t>//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Creating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Indexes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System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C678DD"/>
                </a:solidFill>
                <a:latin typeface="Consolas"/>
              </a:rPr>
              <a:t>out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EXPLAIN Plans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EXPLAIN Plans Overview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to see query execution plan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ANALYZE to see actual execution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FORMAT JSON for detailed info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56B6C2"/>
                </a:solidFill>
                <a:latin typeface="Consolas"/>
              </a:rPr>
              <a:t>//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EXPLAIN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Plans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Overview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System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C678DD"/>
                </a:solidFill>
                <a:latin typeface="Consolas"/>
              </a:rPr>
              <a:t>out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Creating a Simple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Creating a Simple Index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idx_simple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first_name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Exercise: Create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Exercise: Create Indexes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idx_age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employees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age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CREATE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INDEX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idx_salary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em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EXPLAIN Plan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EXPLAIN Plan Example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891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output format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Cost, Rows, Plan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EXPLAIN SELECT * FROM employees WHERE 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6891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POSTGRESQL 16.6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56B6C2"/>
                </a:solidFill>
                <a:latin typeface="Consolas"/>
              </a:rPr>
              <a:t>//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EXPLAIN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Plan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System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C678DD"/>
                </a:solidFill>
                <a:latin typeface="Consolas"/>
              </a:rPr>
              <a:t>out</a:t>
            </a:r>
            <a:r>
              <a:rPr sz="2000">
                <a:solidFill>
                  <a:srgbClr val="D19A66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PostgreSQL 16 Advanced Indexing &amp; EXPLAIN Plans: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PostgreSQL 16 Advanced Indexing &amp; EXPLAIN Plans: Part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2599"/>
            <a:ext cx="7848599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Indexes speed up queries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Different types of indexes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indexes wisely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EXPLAIN to understand queries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Thank You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2599"/>
            <a:ext cx="7848599" cy="6222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and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