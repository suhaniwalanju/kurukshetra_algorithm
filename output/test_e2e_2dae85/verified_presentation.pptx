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Welcome students to advanced Java 21 and Spring Boot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System.out.println("Spring Boot 3 Web Endpoint Initialized");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System.out.println("Java 21 Virtual Thread Running")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Hint:</a:t>
            </a:r>
          </a:p>
          <a:p>
            <a:r>
              <a:t>[imports omitted - full runnable version in trainer notes]</a:t>
            </a:r>
          </a:p>
          <a:p/>
          <a:p>
            <a:r>
              <a:t>Trainer Notes:</a:t>
            </a:r>
          </a:p>
          <a:p>
            <a:r>
              <a:t>Full runnable version (with imports):</a:t>
            </a:r>
          </a:p>
          <a:p>
            <a:r>
              <a:t>import java.util.*;</a:t>
            </a:r>
          </a:p>
          <a:p>
            <a:r>
              <a:t>import java.util.stream.*;</a:t>
            </a:r>
          </a:p>
          <a:p>
            <a:r>
              <a:t>import java.time.*;</a:t>
            </a:r>
          </a:p>
          <a:p>
            <a:r>
              <a:t>import java.io.*;</a:t>
            </a:r>
          </a:p>
          <a:p>
            <a:r>
              <a:t>import java.util.concurrent.*;</a:t>
            </a:r>
          </a:p>
          <a:p/>
          <a:p>
            <a:r>
              <a:t>public class Main {</a:t>
            </a:r>
          </a:p>
          <a:p>
            <a:r>
              <a:t>    public static void main(String[] args) throws Exception {</a:t>
            </a:r>
          </a:p>
          <a:p>
            <a:r>
              <a:t>        System.out.println("Exercise Starter Code");</a:t>
            </a:r>
          </a:p>
          <a:p>
            <a:r>
              <a:t>    }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&amp; Java 21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35199" y="5556250"/>
            <a:ext cx="7721599" cy="330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21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00132A"/>
                </a:solidFill>
                <a:latin typeface="Segoe UI"/>
              </a:defRPr>
            </a:pPr>
            <a:r>
              <a:t>Presented By Dr. Samruddhi Khade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35199" y="1822449"/>
            <a:ext cx="7721599" cy="5715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Modern Java backend engineering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Virtual threads in Spring Boot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Spring Boot 3 REST Controller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Spring Boot 3 REST Controller   •   Slide 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Exposing endpoint with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Fast non-blocking responses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Spring Boot 3 Web Endpoint Initialized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Spring Boot 3 Web Endpoint Initialized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Virtual Threads Executor (Broken)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Virtual Threads Executor (Broken)   •   Slide 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Demonstrating virtual thread creation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Injected syntax error for healing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import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java.util.*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class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E5C07B"/>
                </a:solidFill>
                <a:latin typeface="Consolas"/>
              </a:rPr>
              <a:t>Main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C678DD"/>
                </a:solidFill>
                <a:latin typeface="Consolas"/>
              </a:rPr>
              <a:t>public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static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C678DD"/>
                </a:solidFill>
                <a:latin typeface="Consolas"/>
              </a:rPr>
              <a:t>void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61AFEF"/>
                </a:solidFill>
                <a:latin typeface="Consolas"/>
              </a:rPr>
              <a:t>main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F0F4FA"/>
                </a:solidFill>
                <a:latin typeface="Consolas"/>
              </a:rPr>
              <a:t>String</a:t>
            </a:r>
            <a:r>
              <a:rPr sz="1900">
                <a:solidFill>
                  <a:srgbClr val="56B6C2"/>
                </a:solidFill>
                <a:latin typeface="Consolas"/>
              </a:rPr>
              <a:t>[</a:t>
            </a:r>
            <a:r>
              <a:rPr sz="1900">
                <a:solidFill>
                  <a:srgbClr val="56B6C2"/>
                </a:solidFill>
                <a:latin typeface="Consolas"/>
              </a:rPr>
              <a:t>]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F0F4FA"/>
                </a:solidFill>
                <a:latin typeface="Consolas"/>
              </a:rPr>
              <a:t>args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F0F4FA"/>
                </a:solidFill>
                <a:latin typeface="Consolas"/>
              </a:rPr>
              <a:t> </a:t>
            </a:r>
            <a:r>
              <a:rPr sz="1900">
                <a:solidFill>
                  <a:srgbClr val="ABB2BF"/>
                </a:solidFill>
                <a:latin typeface="Consolas"/>
              </a:rPr>
              <a:t>{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F0F4FA"/>
                </a:solidFill>
                <a:latin typeface="Consolas"/>
              </a:rPr>
              <a:t>System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out</a:t>
            </a:r>
            <a:r>
              <a:rPr sz="1900">
                <a:solidFill>
                  <a:srgbClr val="ABB2BF"/>
                </a:solidFill>
                <a:latin typeface="Consolas"/>
              </a:rPr>
              <a:t>.</a:t>
            </a:r>
            <a:r>
              <a:rPr sz="1900">
                <a:solidFill>
                  <a:srgbClr val="F0F4FA"/>
                </a:solidFill>
                <a:latin typeface="Consolas"/>
              </a:rPr>
              <a:t>println</a:t>
            </a:r>
            <a:r>
              <a:rPr sz="1900">
                <a:solidFill>
                  <a:srgbClr val="ABB2BF"/>
                </a:solidFill>
                <a:latin typeface="Consolas"/>
              </a:rPr>
              <a:t>(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98C379"/>
                </a:solidFill>
                <a:latin typeface="Consolas"/>
              </a:rPr>
              <a:t>Java 21 Virtual Thread Running</a:t>
            </a:r>
            <a:r>
              <a:rPr sz="1900">
                <a:solidFill>
                  <a:srgbClr val="98C379"/>
                </a:solidFill>
                <a:latin typeface="Consolas"/>
              </a:rPr>
              <a:t>"</a:t>
            </a:r>
            <a:r>
              <a:rPr sz="1900">
                <a:solidFill>
                  <a:srgbClr val="ABB2BF"/>
                </a:solidFill>
                <a:latin typeface="Consolas"/>
              </a:rPr>
              <a:t>)</a:t>
            </a:r>
            <a:r>
              <a:rPr sz="19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Aft>
                <a:spcPts val="200"/>
              </a:spcAft>
              <a:defRPr sz="1900">
                <a:latin typeface="Consolas"/>
              </a:defRPr>
            </a:pPr>
            <a:r>
              <a:rPr sz="1900">
                <a:solidFill>
                  <a:srgbClr val="ABB2BF"/>
                </a:solidFill>
                <a:latin typeface="Consolas"/>
              </a:rPr>
              <a:t>}</a:t>
            </a:r>
          </a:p>
          <a:p>
            <a:pPr>
              <a:spcBef>
                <a:spcPts val="1200"/>
              </a:spcBef>
            </a:pPr>
            <a:r>
              <a:rPr sz="17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700">
                <a:solidFill>
                  <a:srgbClr val="E2E8F0"/>
                </a:solidFill>
                <a:latin typeface="Consolas"/>
              </a:rPr>
              <a:t>Java 21 Virtual Thread Running
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Hands-On Lab: Scoped Values vs ThreadLocal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Hands-On Lab: Scoped Values vs ThreadLocal   •   Slide 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18958" y="6095999"/>
            <a:ext cx="3291840" cy="1524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B91C1C"/>
                </a:solidFill>
                <a:latin typeface="Consolas"/>
              </a:defRPr>
            </a:pPr>
            <a:r>
              <a:t>⚠ Unverified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981199" y="1695449"/>
            <a:ext cx="3505199" cy="215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Implement scoped value binding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Pass context safely</a:t>
            </a:r>
          </a:p>
          <a:p>
            <a:pPr>
              <a:defRPr sz="2600" i="1">
                <a:solidFill>
                  <a:srgbClr val="002147"/>
                </a:solidFill>
              </a:defRPr>
            </a:pPr>
            <a:r>
              <a:t>Reference: LAB-JAVA21-01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40399" y="1695449"/>
            <a:ext cx="4470399" cy="215900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800"/>
              </a:spcAft>
              <a:defRPr sz="1200">
                <a:solidFill>
                  <a:srgbClr val="60A5FA"/>
                </a:solidFill>
                <a:latin typeface="Consolas"/>
              </a:defRPr>
            </a:pPr>
            <a:r>
              <a:t>// Language: JAVA 21   •   [imports omitted]</a:t>
            </a:r>
          </a:p>
          <a:p>
            <a:pPr>
              <a:spcAft>
                <a:spcPts val="400"/>
              </a:spcAft>
              <a:defRPr sz="1100" i="1">
                <a:solidFill>
                  <a:srgbClr val="C084FC"/>
                </a:solidFill>
                <a:latin typeface="Consolas"/>
              </a:defRPr>
            </a:pPr>
            <a:r>
              <a:t>// * imports omitted (full runnable version in trainer notes)</a:t>
            </a:r>
          </a:p>
          <a:p>
            <a:pPr>
              <a:spcAft>
                <a:spcPts val="200"/>
              </a:spcAft>
              <a:defRPr sz="2000">
                <a:latin typeface="Consolas"/>
              </a:defRPr>
            </a:pPr>
            <a:r>
              <a:rPr sz="2000">
                <a:solidFill>
                  <a:srgbClr val="F0F4FA"/>
                </a:solidFill>
                <a:latin typeface="Consolas"/>
              </a:rPr>
              <a:t>System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out</a:t>
            </a:r>
            <a:r>
              <a:rPr sz="2000">
                <a:solidFill>
                  <a:srgbClr val="ABB2BF"/>
                </a:solidFill>
                <a:latin typeface="Consolas"/>
              </a:rPr>
              <a:t>.</a:t>
            </a:r>
            <a:r>
              <a:rPr sz="2000">
                <a:solidFill>
                  <a:srgbClr val="F0F4FA"/>
                </a:solidFill>
                <a:latin typeface="Consolas"/>
              </a:rPr>
              <a:t>println</a:t>
            </a:r>
            <a:r>
              <a:rPr sz="2000">
                <a:solidFill>
                  <a:srgbClr val="ABB2BF"/>
                </a:solidFill>
                <a:latin typeface="Consolas"/>
              </a:rPr>
              <a:t>(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98C379"/>
                </a:solidFill>
                <a:latin typeface="Consolas"/>
              </a:rPr>
              <a:t>Exercise Starter Code</a:t>
            </a:r>
            <a:r>
              <a:rPr sz="2000">
                <a:solidFill>
                  <a:srgbClr val="98C379"/>
                </a:solidFill>
                <a:latin typeface="Consolas"/>
              </a:rPr>
              <a:t>"</a:t>
            </a:r>
            <a:r>
              <a:rPr sz="2000">
                <a:solidFill>
                  <a:srgbClr val="ABB2BF"/>
                </a:solidFill>
                <a:latin typeface="Consolas"/>
              </a:rPr>
              <a:t>)</a:t>
            </a:r>
            <a:r>
              <a:rPr sz="2000">
                <a:solidFill>
                  <a:srgbClr val="ABB2BF"/>
                </a:solidFill>
                <a:latin typeface="Consolas"/>
              </a:rPr>
              <a:t>;</a:t>
            </a:r>
          </a:p>
          <a:p>
            <a:pPr>
              <a:spcBef>
                <a:spcPts val="1200"/>
              </a:spcBef>
            </a:pPr>
            <a:r>
              <a:rPr sz="1800" b="1">
                <a:solidFill>
                  <a:srgbClr val="4ADE80"/>
                </a:solidFill>
                <a:latin typeface="Consolas"/>
              </a:rPr>
              <a:t>Expected Output: </a:t>
            </a:r>
            <a:r>
              <a:rPr sz="1800">
                <a:solidFill>
                  <a:srgbClr val="E2E8F0"/>
                </a:solidFill>
                <a:latin typeface="Consolas"/>
              </a:rPr>
              <a:t>Exercise Starter Code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DPU_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981199" y="1079500"/>
            <a:ext cx="8229599" cy="43814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400" b="1">
                <a:solidFill>
                  <a:srgbClr val="00132A"/>
                </a:solidFill>
                <a:latin typeface="Arial"/>
              </a:defRPr>
            </a:pPr>
            <a:r>
              <a:t>Summary &amp; 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81199" y="6095999"/>
            <a:ext cx="8229599" cy="15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64748B"/>
                </a:solidFill>
                <a:latin typeface="Segoe UI"/>
              </a:defRPr>
            </a:pPr>
            <a:r>
              <a:t>DPU   •   Summary &amp; Key Takeaways   •   Slide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71699" y="1758949"/>
            <a:ext cx="7848599" cy="889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Java 21 Virtual Threads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Spring Boot 3 Starters</a:t>
            </a:r>
          </a:p>
          <a:p>
            <a:pPr algn="l">
              <a:spcAft>
                <a:spcPts val="1200"/>
              </a:spcAft>
              <a:defRPr sz="3000">
                <a:solidFill>
                  <a:srgbClr val="0F172A"/>
                </a:solidFill>
                <a:latin typeface="Segoe UI"/>
              </a:defRPr>
            </a:pPr>
            <a:r>
              <a:t>•  Production readiness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