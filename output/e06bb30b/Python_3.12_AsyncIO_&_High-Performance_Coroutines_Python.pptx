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Welcome students and set clear expectations for today's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Trainer Notes:</a:t>
            </a:r>
          </a:p>
          <a:p>
            <a:r>
              <a:t>Complete Runnable File (ex_python_s3_introduction_to_asyncio):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Introduction to AsyncIO</a:t>
            </a:r>
          </a:p>
          <a:p>
            <a:r>
              <a:t>    message = "Introduction to AsyncIO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Trainer Notes:</a:t>
            </a:r>
          </a:p>
          <a:p>
            <a:r>
              <a:t>Complete Runnable File (ex_python_s6_understanding_coroutines):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Understanding Coroutines</a:t>
            </a:r>
          </a:p>
          <a:p>
            <a:r>
              <a:t>    message = "Understanding Coroutines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Trainer Notes:</a:t>
            </a:r>
          </a:p>
          <a:p>
            <a:r>
              <a:t>Complete Runnable File (ex_python_s9_writing_simple_async_cod):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Writing Simple Async Code</a:t>
            </a:r>
          </a:p>
          <a:p>
            <a:r>
              <a:t>    message = "Writing Simple Async Code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28800"/>
            <a:ext cx="9445752" cy="16459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40480"/>
            <a:ext cx="9445752" cy="10972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709928"/>
            <a:ext cx="9445752" cy="42976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Python 3.12 AsyncIO &amp; High-Performance Coroutines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35199" y="5454650"/>
            <a:ext cx="7721599" cy="330200"/>
          </a:xfrm>
        </p:spPr>
        <p:txBody>
          <a:bodyPr wrap="square"/>
          <a:lstStyle/>
          <a:p>
            <a:pPr algn="l">
              <a:defRPr sz="3000" b="1">
                <a:solidFill>
                  <a:srgbClr val="2563EB"/>
                </a:solidFill>
                <a:latin typeface="Segoe UI"/>
              </a:defRPr>
            </a:pPr>
            <a:r>
              <a:t>Presented By sam</a:t>
            </a:r>
          </a:p>
          <a:p>
            <a:pPr algn="l">
              <a:defRPr sz="1600">
                <a:solidFill>
                  <a:srgbClr val="64748B"/>
                </a:solidFill>
                <a:latin typeface="Segoe UI"/>
              </a:defRPr>
            </a:pPr>
            <a:r>
              <a:t>VIT Course Material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981199" y="5994400"/>
            <a:ext cx="8229599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Python 3.12 AsyncIO &amp; High-Performance Coroutines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1699" y="1847849"/>
            <a:ext cx="7848599" cy="1143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Introduction to AsyncIO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Understanding Coroutines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Writing Simple Async Code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Performance Considerations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Agenda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Introduction to AsyncIO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AsyncIO is for asynchronous I/O operations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Allows non-blocking I/O in Python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Introduction to AsyncIO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Introduction to AsyncIO Executed in Python 3.12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Introduction to AsyncIO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Simple Async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0399" y="1784350"/>
            <a:ext cx="4470399" cy="2159000"/>
          </a:xfrm>
        </p:spPr>
        <p:txBody>
          <a:bodyPr/>
          <a:lstStyle/>
          <a:p/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async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def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simple_coroutine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:</a:t>
            </a:r>
            <a:r>
              <a:rPr sz="1400">
                <a:solidFill>
                  <a:srgbClr val="F0F4FA"/>
                </a:solidFill>
                <a:latin typeface="Consolas"/>
              </a:rPr>
              <a:t>\</a:t>
            </a:r>
            <a:r>
              <a:rPr sz="1400">
                <a:solidFill>
                  <a:srgbClr val="F0F4FA"/>
                </a:solidFill>
                <a:latin typeface="Consolas"/>
              </a:rPr>
              <a:t>n</a:t>
            </a: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await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sleep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D19A66"/>
                </a:solidFill>
                <a:latin typeface="Consolas"/>
              </a:rPr>
              <a:t>1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</a:p>
        </p:txBody>
      </p:sp>
      <p:sp>
        <p:nvSpPr>
          <p:cNvPr id="7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Simple Async Function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Python 3.12 AsyncIO &amp; High-Performance Coroutines: Part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0399" y="1784350"/>
            <a:ext cx="4470399" cy="2222500"/>
          </a:xfrm>
        </p:spPr>
        <p:txBody>
          <a:bodyPr/>
          <a:lstStyle/>
          <a:p/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pic>
        <p:nvPicPr>
          <p:cNvPr id="6" name="Picture 5" descr="diag_slide_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0399" y="1784350"/>
            <a:ext cx="4470399" cy="2222500"/>
          </a:xfrm>
          <a:prstGeom prst="rect">
            <a:avLst/>
          </a:prstGeom>
        </p:spPr>
      </p:pic>
      <p:sp>
        <p:nvSpPr>
          <p:cNvPr id="7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Python 3.12 AsyncIO &amp; High-Performance Coroutines: Part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Understanding Coroutines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Coroutines are lightweight threads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Can be paused and resumed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Understanding Coroutines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Understanding Coroutines Executed in Python 3.12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Understanding Coroutines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Coroutine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0399" y="1784350"/>
            <a:ext cx="4470399" cy="2159000"/>
          </a:xfrm>
        </p:spPr>
        <p:txBody>
          <a:bodyPr/>
          <a:lstStyle/>
          <a:p/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async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def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coroutine_example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:</a:t>
            </a:r>
            <a:r>
              <a:rPr sz="1400">
                <a:solidFill>
                  <a:srgbClr val="F0F4FA"/>
                </a:solidFill>
                <a:latin typeface="Consolas"/>
              </a:rPr>
              <a:t>\</a:t>
            </a:r>
            <a:r>
              <a:rPr sz="1400">
                <a:solidFill>
                  <a:srgbClr val="F0F4FA"/>
                </a:solidFill>
                <a:latin typeface="Consolas"/>
              </a:rPr>
              <a:t>n</a:t>
            </a: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Coroutine star...</a:t>
            </a:r>
          </a:p>
        </p:txBody>
      </p:sp>
      <p:sp>
        <p:nvSpPr>
          <p:cNvPr id="7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Coroutine Example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Coroutine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0399" y="1784350"/>
            <a:ext cx="4470399" cy="2159000"/>
          </a:xfrm>
        </p:spPr>
        <p:txBody>
          <a:bodyPr/>
          <a:lstStyle/>
          <a:p/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56B6C2"/>
                </a:solidFill>
                <a:latin typeface="Consolas"/>
              </a:rPr>
              <a:t>/</a:t>
            </a:r>
            <a:r>
              <a:rPr sz="1400">
                <a:solidFill>
                  <a:srgbClr val="56B6C2"/>
                </a:solidFill>
                <a:latin typeface="Consolas"/>
              </a:rPr>
              <a:t>/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Example</a:t>
            </a:r>
            <a:r>
              <a:rPr sz="1400">
                <a:solidFill>
                  <a:srgbClr val="ABB2BF"/>
                </a:solidFill>
                <a:latin typeface="Consolas"/>
              </a:rPr>
              <a:t>: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Coroutine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Exercise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result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computeState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System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out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println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result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</p:txBody>
      </p:sp>
      <p:sp>
        <p:nvSpPr>
          <p:cNvPr id="7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Coroutine Exercise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Writing Simple Async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Use `async def` for coroutines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Use `await` for I/O operations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Writing Simple Async Code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Writing Simple Async Code Executed in Python 3...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Writing Simple Async Code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Async Function with Await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0399" y="1784350"/>
            <a:ext cx="4470399" cy="2159000"/>
          </a:xfrm>
        </p:spPr>
        <p:txBody>
          <a:bodyPr/>
          <a:lstStyle/>
          <a:p/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async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def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async_function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:</a:t>
            </a:r>
            <a:r>
              <a:rPr sz="1400">
                <a:solidFill>
                  <a:srgbClr val="F0F4FA"/>
                </a:solidFill>
                <a:latin typeface="Consolas"/>
              </a:rPr>
              <a:t>\</a:t>
            </a:r>
            <a:r>
              <a:rPr sz="1400">
                <a:solidFill>
                  <a:srgbClr val="F0F4FA"/>
                </a:solidFill>
                <a:latin typeface="Consolas"/>
              </a:rPr>
              <a:t>n</a:t>
            </a: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await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sleep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D19A66"/>
                </a:solidFill>
                <a:latin typeface="Consolas"/>
              </a:rPr>
              <a:t>1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\</a:t>
            </a:r>
            <a:r>
              <a:rPr sz="1400">
                <a:solidFill>
                  <a:srgbClr val="F0F4FA"/>
                </a:solidFill>
                <a:latin typeface="Consolas"/>
              </a:rPr>
              <a:t>n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</a:p>
        </p:txBody>
      </p:sp>
      <p:sp>
        <p:nvSpPr>
          <p:cNvPr id="7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Async Function with Await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Async Function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0399" y="1784350"/>
            <a:ext cx="4470399" cy="2159000"/>
          </a:xfrm>
        </p:spPr>
        <p:txBody>
          <a:bodyPr/>
          <a:lstStyle/>
          <a:p/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56B6C2"/>
                </a:solidFill>
                <a:latin typeface="Consolas"/>
              </a:rPr>
              <a:t>/</a:t>
            </a:r>
            <a:r>
              <a:rPr sz="1400">
                <a:solidFill>
                  <a:srgbClr val="56B6C2"/>
                </a:solidFill>
                <a:latin typeface="Consolas"/>
              </a:rPr>
              <a:t>/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Example</a:t>
            </a:r>
            <a:r>
              <a:rPr sz="1400">
                <a:solidFill>
                  <a:srgbClr val="ABB2BF"/>
                </a:solidFill>
                <a:latin typeface="Consolas"/>
              </a:rPr>
              <a:t>: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Async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Function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Exercise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var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result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computeState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System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out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println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result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</p:txBody>
      </p:sp>
      <p:sp>
        <p:nvSpPr>
          <p:cNvPr id="7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Async Function Exercise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Python 3.12 AsyncIO &amp; High-Performance Coroutines: Part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1699" y="1847849"/>
            <a:ext cx="7848599" cy="88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AsyncIO for non-blocking I/O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Coroutines are lightweight threads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Use `async def` and `await`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Python 3.12 AsyncIO &amp; High-Performance Coroutines: Part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1699" y="1847849"/>
            <a:ext cx="7848599" cy="635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Questions?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References: Python AsyncIO Docs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