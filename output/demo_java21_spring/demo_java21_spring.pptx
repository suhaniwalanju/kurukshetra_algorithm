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Java 21 &amp; Spring Boot 3 Microservices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35199" y="5454650"/>
            <a:ext cx="7721599" cy="323849"/>
          </a:xfrm>
          <a:prstGeom prst="roundRect">
            <a:avLst/>
          </a:prstGeom>
          <a:solidFill>
            <a:srgbClr val="6E9AD6"/>
          </a:solidFill>
          <a:ln w="19050">
            <a:solidFill>
              <a:srgbClr val="425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Presented By Dr. Arvind Sharma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35199" y="1904999"/>
            <a:ext cx="7721599" cy="8064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High-throughput microservices using Virtual Threads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Spring Boot 3 native compilation patterns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Deterministic verification &amp; sandbox safety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Java 21 Virtual Threads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Java 21 Virtual Threads Architecture   •   Slide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78000"/>
            <a:ext cx="3994149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Lightweight user-mode threads managed by JVM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Zero carrier thread pinning on blocking I/O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Millions of concurrent HTTP request handlers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6649" y="1778000"/>
            <a:ext cx="3994149" cy="1765299"/>
          </a:xfrm>
          <a:prstGeom prst="roundRect">
            <a:avLst/>
          </a:prstGeom>
          <a:solidFill>
            <a:srgbClr val="1E1E2E"/>
          </a:solidFill>
          <a:ln w="1905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300">
                <a:solidFill>
                  <a:srgbClr val="8C9BAF"/>
                </a:solidFill>
                <a:latin typeface="Consolas"/>
              </a:defRPr>
            </a:pPr>
            <a:r>
              <a:t>// Language: JAVA 21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class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E5C07B"/>
                </a:solidFill>
                <a:latin typeface="Consolas"/>
              </a:rPr>
              <a:t>Solution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static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void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61AFEF"/>
                </a:solidFill>
                <a:latin typeface="Consolas"/>
              </a:rPr>
              <a:t>main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F0F4FA"/>
                </a:solidFill>
                <a:latin typeface="Consolas"/>
              </a:rPr>
              <a:t>String</a:t>
            </a:r>
            <a:r>
              <a:rPr sz="2000">
                <a:solidFill>
                  <a:srgbClr val="56B6C2"/>
                </a:solidFill>
                <a:latin typeface="Consolas"/>
              </a:rPr>
              <a:t>[</a:t>
            </a:r>
            <a:r>
              <a:rPr sz="2000">
                <a:solidFill>
                  <a:srgbClr val="56B6C2"/>
                </a:solidFill>
                <a:latin typeface="Consolas"/>
              </a:rPr>
              <a:t>]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args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throws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Exception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var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thread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=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Thread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startVirtualThread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-</a:t>
            </a:r>
            <a:r>
              <a:rPr sz="2000">
                <a:solidFill>
                  <a:srgbClr val="56B6C2"/>
                </a:solidFill>
                <a:latin typeface="Consolas"/>
              </a:rPr>
              <a:t>&gt;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System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out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println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Virtual Thread Executing!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thread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join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4ADE80"/>
                </a:solidFill>
                <a:latin typeface="Consolas"/>
              </a:rPr>
              <a:t>Expected Output: </a:t>
            </a:r>
            <a:r>
              <a:rPr sz="1800">
                <a:solidFill>
                  <a:srgbClr val="E2E8F0"/>
                </a:solidFill>
                <a:latin typeface="Consolas"/>
              </a:rPr>
              <a:t>Virtual Thread Executing!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Spring Boot 3 RESTful Endpoint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Spring Boot 3 RESTful Endpoint   •   Slide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78000"/>
            <a:ext cx="3994149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Jakarta EE 10 namespace standards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Embedded Tomcat virtual thread executor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Observability via Micrometer tracing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6649" y="1778000"/>
            <a:ext cx="3994149" cy="1600200"/>
          </a:xfrm>
          <a:prstGeom prst="roundRect">
            <a:avLst/>
          </a:prstGeom>
          <a:solidFill>
            <a:srgbClr val="1E1E2E"/>
          </a:solidFill>
          <a:ln w="1905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300">
                <a:solidFill>
                  <a:srgbClr val="8C9BAF"/>
                </a:solidFill>
                <a:latin typeface="Consolas"/>
              </a:defRPr>
            </a:pPr>
            <a:r>
              <a:t>// Language: JAVA 21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class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E5C07B"/>
                </a:solidFill>
                <a:latin typeface="Consolas"/>
              </a:rPr>
              <a:t>Solution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static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void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61AFEF"/>
                </a:solidFill>
                <a:latin typeface="Consolas"/>
              </a:rPr>
              <a:t>main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F0F4FA"/>
                </a:solidFill>
                <a:latin typeface="Consolas"/>
              </a:rPr>
              <a:t>String</a:t>
            </a:r>
            <a:r>
              <a:rPr sz="2000">
                <a:solidFill>
                  <a:srgbClr val="56B6C2"/>
                </a:solidFill>
                <a:latin typeface="Consolas"/>
              </a:rPr>
              <a:t>[</a:t>
            </a:r>
            <a:r>
              <a:rPr sz="2000">
                <a:solidFill>
                  <a:srgbClr val="56B6C2"/>
                </a:solidFill>
                <a:latin typeface="Consolas"/>
              </a:rPr>
              <a:t>]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args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String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status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=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UP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int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port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=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D19A66"/>
                </a:solidFill>
                <a:latin typeface="Consolas"/>
              </a:rPr>
              <a:t>8080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System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out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println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Service: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+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status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+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 on: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+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port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4ADE80"/>
                </a:solidFill>
                <a:latin typeface="Consolas"/>
              </a:rPr>
              <a:t>Expected Output: </a:t>
            </a:r>
            <a:r>
              <a:rPr sz="1800">
                <a:solidFill>
                  <a:srgbClr val="E2E8F0"/>
                </a:solidFill>
                <a:latin typeface="Consolas"/>
              </a:rPr>
              <a:t>Service: UP on: 8080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Exercise: Structured Concurrency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Exercise: Structured Concurrency Scope   •   Slide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1199" y="1778000"/>
            <a:ext cx="3994149" cy="838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Fork concurrent user and order service queries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Ensure fail-fast cancellation on task failure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Synthesize results deterministically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6649" y="1778000"/>
            <a:ext cx="3994149" cy="1435100"/>
          </a:xfrm>
          <a:prstGeom prst="roundRect">
            <a:avLst/>
          </a:prstGeom>
          <a:solidFill>
            <a:srgbClr val="1E1E2E"/>
          </a:solidFill>
          <a:ln w="1905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800"/>
              </a:spcAft>
              <a:defRPr sz="1300">
                <a:solidFill>
                  <a:srgbClr val="8C9BAF"/>
                </a:solidFill>
                <a:latin typeface="Consolas"/>
              </a:defRPr>
            </a:pPr>
            <a:r>
              <a:t>// Language: JAVA 21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class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E5C07B"/>
                </a:solidFill>
                <a:latin typeface="Consolas"/>
              </a:rPr>
              <a:t>Solution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public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static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C678DD"/>
                </a:solidFill>
                <a:latin typeface="Consolas"/>
              </a:rPr>
              <a:t>void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61AFEF"/>
                </a:solidFill>
                <a:latin typeface="Consolas"/>
              </a:rPr>
              <a:t>main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F0F4FA"/>
                </a:solidFill>
                <a:latin typeface="Consolas"/>
              </a:rPr>
              <a:t>String</a:t>
            </a:r>
            <a:r>
              <a:rPr sz="2000">
                <a:solidFill>
                  <a:srgbClr val="56B6C2"/>
                </a:solidFill>
                <a:latin typeface="Consolas"/>
              </a:rPr>
              <a:t>[</a:t>
            </a:r>
            <a:r>
              <a:rPr sz="2000">
                <a:solidFill>
                  <a:srgbClr val="56B6C2"/>
                </a:solidFill>
                <a:latin typeface="Consolas"/>
              </a:rPr>
              <a:t>]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args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ABB2B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C678DD"/>
                </a:solidFill>
                <a:latin typeface="Consolas"/>
              </a:rPr>
              <a:t>int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res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=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D19A66"/>
                </a:solidFill>
                <a:latin typeface="Consolas"/>
              </a:rPr>
              <a:t>42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F0F4FA"/>
                </a:solidFill>
                <a:latin typeface="Consolas"/>
              </a:rPr>
              <a:t>System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out</a:t>
            </a:r>
            <a:r>
              <a:rPr sz="2000">
                <a:solidFill>
                  <a:srgbClr val="ABB2BF"/>
                </a:solidFill>
                <a:latin typeface="Consolas"/>
              </a:rPr>
              <a:t>.</a:t>
            </a:r>
            <a:r>
              <a:rPr sz="2000">
                <a:solidFill>
                  <a:srgbClr val="F0F4FA"/>
                </a:solidFill>
                <a:latin typeface="Consolas"/>
              </a:rPr>
              <a:t>println</a:t>
            </a:r>
            <a:r>
              <a:rPr sz="2000">
                <a:solidFill>
                  <a:srgbClr val="ABB2BF"/>
                </a:solidFill>
                <a:latin typeface="Consolas"/>
              </a:rPr>
              <a:t>(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98C379"/>
                </a:solidFill>
                <a:latin typeface="Consolas"/>
              </a:rPr>
              <a:t>Synthesized: </a:t>
            </a:r>
            <a:r>
              <a:rPr sz="2000">
                <a:solidFill>
                  <a:srgbClr val="98C379"/>
                </a:solidFill>
                <a:latin typeface="Consolas"/>
              </a:rPr>
              <a:t>"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56B6C2"/>
                </a:solidFill>
                <a:latin typeface="Consolas"/>
              </a:rPr>
              <a:t>+</a:t>
            </a:r>
            <a:r>
              <a:rPr sz="2000">
                <a:solidFill>
                  <a:srgbClr val="F0F4FA"/>
                </a:solidFill>
                <a:latin typeface="Consolas"/>
              </a:rPr>
              <a:t> </a:t>
            </a:r>
            <a:r>
              <a:rPr sz="2000">
                <a:solidFill>
                  <a:srgbClr val="F0F4FA"/>
                </a:solidFill>
                <a:latin typeface="Consolas"/>
              </a:rPr>
              <a:t>res</a:t>
            </a:r>
            <a:r>
              <a:rPr sz="2000">
                <a:solidFill>
                  <a:srgbClr val="ABB2BF"/>
                </a:solidFill>
                <a:latin typeface="Consolas"/>
              </a:rPr>
              <a:t>)</a:t>
            </a:r>
            <a:r>
              <a:rPr sz="2000">
                <a:solidFill>
                  <a:srgbClr val="ABB2BF"/>
                </a:solidFill>
                <a:latin typeface="Consolas"/>
              </a:rPr>
              <a:t>;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  <a:defRPr sz="2000">
                <a:latin typeface="Consolas"/>
              </a:defRPr>
            </a:pPr>
            <a:r>
              <a:rPr sz="2000">
                <a:solidFill>
                  <a:srgbClr val="ABB2BF"/>
                </a:solidFill>
                <a:latin typeface="Consolas"/>
              </a:rPr>
              <a:t>}</a:t>
            </a:r>
          </a:p>
          <a:p>
            <a:pPr>
              <a:spcBef>
                <a:spcPts val="1200"/>
              </a:spcBef>
            </a:pPr>
            <a:r>
              <a:rPr sz="1800" b="1">
                <a:solidFill>
                  <a:srgbClr val="4ADE80"/>
                </a:solidFill>
                <a:latin typeface="Consolas"/>
              </a:rPr>
              <a:t>Expected Output: </a:t>
            </a:r>
            <a:r>
              <a:rPr sz="1800">
                <a:solidFill>
                  <a:srgbClr val="E2E8F0"/>
                </a:solidFill>
                <a:latin typeface="Consolas"/>
              </a:rPr>
              <a:t>Synthesized: 42
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T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81199" y="1174750"/>
            <a:ext cx="8229599" cy="42544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4400" b="1">
                <a:solidFill>
                  <a:srgbClr val="425C80"/>
                </a:solidFill>
                <a:latin typeface="Arial"/>
              </a:defRPr>
            </a:pPr>
            <a:r>
              <a:t>Summary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199" y="5994400"/>
            <a:ext cx="8229599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64748B"/>
                </a:solidFill>
                <a:latin typeface="Segoe UI"/>
              </a:defRPr>
            </a:pPr>
            <a:r>
              <a:t>VIT   •   Summary &amp; Key Takeaways   •   Slide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1699" y="1841500"/>
            <a:ext cx="7848599" cy="8699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E9A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Virtual threads replace reactive complexity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Spring Boot 3 modernizes enterprise Java</a:t>
            </a:r>
          </a:p>
          <a:p>
            <a:pPr algn="l">
              <a:spcAft>
                <a:spcPts val="1200"/>
              </a:spcAft>
              <a:defRPr sz="3000">
                <a:solidFill>
                  <a:srgbClr val="0F172A"/>
                </a:solidFill>
                <a:latin typeface="Segoe UI"/>
              </a:defRPr>
            </a:pPr>
            <a:r>
              <a:t>•  All presentation snippets verified by execution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