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Modern C++20 Concepts, Ranges &amp; Move Semantics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556250"/>
            <a:ext cx="7721599" cy="323849"/>
          </a:xfrm>
          <a:prstGeom prst="roundRect">
            <a:avLst/>
          </a:prstGeom>
          <a:solidFill>
            <a:srgbClr val="002147"/>
          </a:solidFill>
          <a:ln w="19050">
            <a:solidFill>
              <a:srgbClr val="001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Presented By sam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816099"/>
            <a:ext cx="7721599" cy="55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Subject: C++ 20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Level: Beginner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Agenda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2599"/>
            <a:ext cx="7848599" cy="869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Concepts Overview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Ranges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Move Semantics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Concepts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891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Concepts simplify code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std::ranges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6891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C++ 20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template</a:t>
            </a:r>
            <a:r>
              <a:rPr sz="2000">
                <a:solidFill>
                  <a:srgbClr val="56B6C2"/>
                </a:solidFill>
                <a:latin typeface="Consolas"/>
              </a:rPr>
              <a:t>&lt;</a:t>
            </a:r>
            <a:r>
              <a:rPr sz="2000">
                <a:solidFill>
                  <a:srgbClr val="C678DD"/>
                </a:solidFill>
                <a:latin typeface="Consolas"/>
              </a:rPr>
              <a:t>typename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T</a:t>
            </a:r>
            <a:r>
              <a:rPr sz="2000">
                <a:solidFill>
                  <a:srgbClr val="56B6C2"/>
                </a:solidFill>
                <a:latin typeface="Consolas"/>
              </a:rPr>
              <a:t>&gt;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concept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bool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Iterable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requires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for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C678DD"/>
                </a:solidFill>
                <a:latin typeface="Consolas"/>
              </a:rPr>
              <a:t>auto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Code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Code Example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891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Iterate over a range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std::ranges::for_each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6891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C++ 20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iterate_over_range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std</a:t>
            </a:r>
            <a:r>
              <a:rPr sz="2000">
                <a:solidFill>
                  <a:srgbClr val="56B6C2"/>
                </a:solidFill>
                <a:latin typeface="Consolas"/>
              </a:rPr>
              <a:t>:</a:t>
            </a:r>
            <a:r>
              <a:rPr sz="2000">
                <a:solidFill>
                  <a:srgbClr val="56B6C2"/>
                </a:solidFill>
                <a:latin typeface="Consolas"/>
              </a:rPr>
              <a:t>:</a:t>
            </a:r>
            <a:r>
              <a:rPr sz="2000">
                <a:solidFill>
                  <a:srgbClr val="F0F4FA"/>
                </a:solidFill>
                <a:latin typeface="Consolas"/>
              </a:rPr>
              <a:t>vector</a:t>
            </a:r>
            <a:r>
              <a:rPr sz="2000">
                <a:solidFill>
                  <a:srgbClr val="56B6C2"/>
                </a:solidFill>
                <a:latin typeface="Consolas"/>
              </a:rPr>
              <a:t>&lt;</a:t>
            </a:r>
            <a:r>
              <a:rPr sz="2000">
                <a:solidFill>
                  <a:srgbClr val="C678DD"/>
                </a:solidFill>
                <a:latin typeface="Consolas"/>
              </a:rPr>
              <a:t>int</a:t>
            </a:r>
            <a:r>
              <a:rPr sz="2000">
                <a:solidFill>
                  <a:srgbClr val="56B6C2"/>
                </a:solidFill>
                <a:latin typeface="Consolas"/>
              </a:rPr>
              <a:t>&gt;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v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  <a:r>
              <a:rPr sz="2000">
                <a:solidFill>
                  <a:srgbClr val="D19A66"/>
                </a:solidFill>
                <a:latin typeface="Consolas"/>
              </a:rPr>
              <a:t>1</a:t>
            </a:r>
            <a:r>
              <a:rPr sz="2000">
                <a:solidFill>
                  <a:srgbClr val="ABB2BF"/>
                </a:solidFill>
                <a:latin typeface="Consolas"/>
              </a:rPr>
              <a:t>,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2</a:t>
            </a:r>
            <a:r>
              <a:rPr sz="2000">
                <a:solidFill>
                  <a:srgbClr val="ABB2BF"/>
                </a:solidFill>
                <a:latin typeface="Consolas"/>
              </a:rPr>
              <a:t>,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3</a:t>
            </a: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std</a:t>
            </a:r>
            <a:r>
              <a:rPr sz="2000">
                <a:solidFill>
                  <a:srgbClr val="56B6C2"/>
                </a:solidFill>
                <a:latin typeface="Consolas"/>
              </a:rPr>
              <a:t>:</a:t>
            </a:r>
            <a:r>
              <a:rPr sz="2000">
                <a:solidFill>
                  <a:srgbClr val="56B6C2"/>
                </a:solidFill>
                <a:latin typeface="Consolas"/>
              </a:rPr>
              <a:t>:</a:t>
            </a:r>
            <a:r>
              <a:rPr sz="2000">
                <a:solidFill>
                  <a:srgbClr val="F0F4FA"/>
                </a:solidFill>
                <a:latin typeface="Consolas"/>
              </a:rPr>
              <a:t>range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Ranges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Ranges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891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Iterate over collections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std::ranges::begin, std::ranges::end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6891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C++ 20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range_example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std</a:t>
            </a:r>
            <a:r>
              <a:rPr sz="2000">
                <a:solidFill>
                  <a:srgbClr val="56B6C2"/>
                </a:solidFill>
                <a:latin typeface="Consolas"/>
              </a:rPr>
              <a:t>:</a:t>
            </a:r>
            <a:r>
              <a:rPr sz="2000">
                <a:solidFill>
                  <a:srgbClr val="56B6C2"/>
                </a:solidFill>
                <a:latin typeface="Consolas"/>
              </a:rPr>
              <a:t>:</a:t>
            </a:r>
            <a:r>
              <a:rPr sz="2000">
                <a:solidFill>
                  <a:srgbClr val="F0F4FA"/>
                </a:solidFill>
                <a:latin typeface="Consolas"/>
              </a:rPr>
              <a:t>vector</a:t>
            </a:r>
            <a:r>
              <a:rPr sz="2000">
                <a:solidFill>
                  <a:srgbClr val="56B6C2"/>
                </a:solidFill>
                <a:latin typeface="Consolas"/>
              </a:rPr>
              <a:t>&lt;</a:t>
            </a:r>
            <a:r>
              <a:rPr sz="2000">
                <a:solidFill>
                  <a:srgbClr val="C678DD"/>
                </a:solidFill>
                <a:latin typeface="Consolas"/>
              </a:rPr>
              <a:t>int</a:t>
            </a:r>
            <a:r>
              <a:rPr sz="2000">
                <a:solidFill>
                  <a:srgbClr val="56B6C2"/>
                </a:solidFill>
                <a:latin typeface="Consolas"/>
              </a:rPr>
              <a:t>&gt;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v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  <a:r>
              <a:rPr sz="2000">
                <a:solidFill>
                  <a:srgbClr val="D19A66"/>
                </a:solidFill>
                <a:latin typeface="Consolas"/>
              </a:rPr>
              <a:t>1</a:t>
            </a:r>
            <a:r>
              <a:rPr sz="2000">
                <a:solidFill>
                  <a:srgbClr val="ABB2BF"/>
                </a:solidFill>
                <a:latin typeface="Consolas"/>
              </a:rPr>
              <a:t>,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2</a:t>
            </a:r>
            <a:r>
              <a:rPr sz="2000">
                <a:solidFill>
                  <a:srgbClr val="ABB2BF"/>
                </a:solidFill>
                <a:latin typeface="Consolas"/>
              </a:rPr>
              <a:t>,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3</a:t>
            </a: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auto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range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st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Code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Code Example   •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891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Iterate over a custom range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std::ranges::for_each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6891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C++ 20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custom_range_example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std</a:t>
            </a:r>
            <a:r>
              <a:rPr sz="2000">
                <a:solidFill>
                  <a:srgbClr val="56B6C2"/>
                </a:solidFill>
                <a:latin typeface="Consolas"/>
              </a:rPr>
              <a:t>:</a:t>
            </a:r>
            <a:r>
              <a:rPr sz="2000">
                <a:solidFill>
                  <a:srgbClr val="56B6C2"/>
                </a:solidFill>
                <a:latin typeface="Consolas"/>
              </a:rPr>
              <a:t>:</a:t>
            </a:r>
            <a:r>
              <a:rPr sz="2000">
                <a:solidFill>
                  <a:srgbClr val="F0F4FA"/>
                </a:solidFill>
                <a:latin typeface="Consolas"/>
              </a:rPr>
              <a:t>vector</a:t>
            </a:r>
            <a:r>
              <a:rPr sz="2000">
                <a:solidFill>
                  <a:srgbClr val="56B6C2"/>
                </a:solidFill>
                <a:latin typeface="Consolas"/>
              </a:rPr>
              <a:t>&lt;</a:t>
            </a:r>
            <a:r>
              <a:rPr sz="2000">
                <a:solidFill>
                  <a:srgbClr val="C678DD"/>
                </a:solidFill>
                <a:latin typeface="Consolas"/>
              </a:rPr>
              <a:t>int</a:t>
            </a:r>
            <a:r>
              <a:rPr sz="2000">
                <a:solidFill>
                  <a:srgbClr val="56B6C2"/>
                </a:solidFill>
                <a:latin typeface="Consolas"/>
              </a:rPr>
              <a:t>&gt;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v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  <a:r>
              <a:rPr sz="2000">
                <a:solidFill>
                  <a:srgbClr val="D19A66"/>
                </a:solidFill>
                <a:latin typeface="Consolas"/>
              </a:rPr>
              <a:t>1</a:t>
            </a:r>
            <a:r>
              <a:rPr sz="2000">
                <a:solidFill>
                  <a:srgbClr val="ABB2BF"/>
                </a:solidFill>
                <a:latin typeface="Consolas"/>
              </a:rPr>
              <a:t>,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2</a:t>
            </a:r>
            <a:r>
              <a:rPr sz="2000">
                <a:solidFill>
                  <a:srgbClr val="ABB2BF"/>
                </a:solidFill>
                <a:latin typeface="Consolas"/>
              </a:rPr>
              <a:t>,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3</a:t>
            </a: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auto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ran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Move Semantics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Move Semantics   • 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891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Move to avoid copying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std::move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6891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C++ 20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move_example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int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5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int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b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10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std</a:t>
            </a:r>
            <a:r>
              <a:rPr sz="2000">
                <a:solidFill>
                  <a:srgbClr val="56B6C2"/>
                </a:solidFill>
                <a:latin typeface="Consolas"/>
              </a:rPr>
              <a:t>:</a:t>
            </a:r>
            <a:r>
              <a:rPr sz="2000">
                <a:solidFill>
                  <a:srgbClr val="56B6C2"/>
                </a:solidFill>
                <a:latin typeface="Consolas"/>
              </a:rPr>
              <a:t>:</a:t>
            </a:r>
            <a:r>
              <a:rPr sz="2000">
                <a:solidFill>
                  <a:srgbClr val="F0F4FA"/>
                </a:solidFill>
                <a:latin typeface="Consolas"/>
              </a:rPr>
              <a:t>cout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&lt;</a:t>
            </a:r>
            <a:r>
              <a:rPr sz="2000">
                <a:solidFill>
                  <a:srgbClr val="56B6C2"/>
                </a:solidFill>
                <a:latin typeface="Consolas"/>
              </a:rPr>
              <a:t>&lt;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&lt;</a:t>
            </a:r>
            <a:r>
              <a:rPr sz="2000">
                <a:solidFill>
                  <a:srgbClr val="56B6C2"/>
                </a:solidFill>
                <a:latin typeface="Consolas"/>
              </a:rPr>
              <a:t>&lt;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std</a:t>
            </a:r>
            <a:r>
              <a:rPr sz="2000">
                <a:solidFill>
                  <a:srgbClr val="56B6C2"/>
                </a:solidFill>
                <a:latin typeface="Consolas"/>
              </a:rPr>
              <a:t>:</a:t>
            </a:r>
            <a:r>
              <a:rPr sz="2000">
                <a:solidFill>
                  <a:srgbClr val="56B6C2"/>
                </a:solidFill>
                <a:latin typeface="Consolas"/>
              </a:rPr>
              <a:t>:</a:t>
            </a:r>
            <a:r>
              <a:rPr sz="2000">
                <a:solidFill>
                  <a:srgbClr val="F0F4FA"/>
                </a:solidFill>
                <a:latin typeface="Consolas"/>
              </a:rPr>
              <a:t>en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Exercise   • 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891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 a custom range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std::ranges::for_each</a:t>
            </a:r>
          </a:p>
          <a:p>
            <a:pPr>
              <a:defRPr sz="2600" i="1">
                <a:solidFill>
                  <a:srgbClr val="002147"/>
                </a:solidFill>
              </a:defRPr>
            </a:pPr>
            <a:r>
              <a:t>Reference: custom_range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6891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C++ 20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custom_range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std</a:t>
            </a:r>
            <a:r>
              <a:rPr sz="2000">
                <a:solidFill>
                  <a:srgbClr val="56B6C2"/>
                </a:solidFill>
                <a:latin typeface="Consolas"/>
              </a:rPr>
              <a:t>:</a:t>
            </a:r>
            <a:r>
              <a:rPr sz="2000">
                <a:solidFill>
                  <a:srgbClr val="56B6C2"/>
                </a:solidFill>
                <a:latin typeface="Consolas"/>
              </a:rPr>
              <a:t>:</a:t>
            </a:r>
            <a:r>
              <a:rPr sz="2000">
                <a:solidFill>
                  <a:srgbClr val="F0F4FA"/>
                </a:solidFill>
                <a:latin typeface="Consolas"/>
              </a:rPr>
              <a:t>vector</a:t>
            </a:r>
            <a:r>
              <a:rPr sz="2000">
                <a:solidFill>
                  <a:srgbClr val="56B6C2"/>
                </a:solidFill>
                <a:latin typeface="Consolas"/>
              </a:rPr>
              <a:t>&lt;</a:t>
            </a:r>
            <a:r>
              <a:rPr sz="2000">
                <a:solidFill>
                  <a:srgbClr val="C678DD"/>
                </a:solidFill>
                <a:latin typeface="Consolas"/>
              </a:rPr>
              <a:t>int</a:t>
            </a:r>
            <a:r>
              <a:rPr sz="2000">
                <a:solidFill>
                  <a:srgbClr val="56B6C2"/>
                </a:solidFill>
                <a:latin typeface="Consolas"/>
              </a:rPr>
              <a:t>&gt;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v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  <a:r>
              <a:rPr sz="2000">
                <a:solidFill>
                  <a:srgbClr val="D19A66"/>
                </a:solidFill>
                <a:latin typeface="Consolas"/>
              </a:rPr>
              <a:t>1</a:t>
            </a:r>
            <a:r>
              <a:rPr sz="2000">
                <a:solidFill>
                  <a:srgbClr val="ABB2BF"/>
                </a:solidFill>
                <a:latin typeface="Consolas"/>
              </a:rPr>
              <a:t>,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2</a:t>
            </a:r>
            <a:r>
              <a:rPr sz="2000">
                <a:solidFill>
                  <a:srgbClr val="ABB2BF"/>
                </a:solidFill>
                <a:latin typeface="Consolas"/>
              </a:rPr>
              <a:t>,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3</a:t>
            </a: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auto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range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v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|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Summary   • 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2599"/>
            <a:ext cx="7848599" cy="869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Concepts simplify code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Ranges provide clean interfaces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Move semantics avoid copying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Closing   •  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2599"/>
            <a:ext cx="7848599" cy="869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Q&amp;A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