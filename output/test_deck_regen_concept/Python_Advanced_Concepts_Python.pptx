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 Notes:</a:t>
            </a:r>
          </a:p>
          <a:p>
            <a:r>
              <a:t>Complete Runnable File (ex_python_s2_original_concept):</a:t>
            </a:r>
          </a:p>
          <a:p>
            <a:r>
              <a:t>```python</a:t>
            </a:r>
          </a:p>
          <a:p>
            <a:r>
              <a:t>import sys</a:t>
            </a:r>
          </a:p>
          <a:p>
            <a:r>
              <a:t>import asyncio</a:t>
            </a:r>
          </a:p>
          <a:p/>
          <a:p>
            <a:r>
              <a:t>async def demonstrate_concept():</a:t>
            </a:r>
          </a:p>
          <a:p>
            <a:r>
              <a:t>    # Concept: Original Concept</a:t>
            </a:r>
          </a:p>
          <a:p>
            <a:r>
              <a:t>    message = "Original Concept Executed in Python 3.12"</a:t>
            </a:r>
          </a:p>
          <a:p>
            <a:r>
              <a:t>    print(message)</a:t>
            </a:r>
          </a:p>
          <a:p>
            <a:r>
              <a:t>    return message</a:t>
            </a:r>
          </a:p>
          <a:p/>
          <a:p>
            <a:r>
              <a:t>def main():</a:t>
            </a:r>
          </a:p>
          <a:p>
            <a:r>
              <a:t>    asyncio.run(demonstrate_concept())</a:t>
            </a:r>
          </a:p>
          <a:p/>
          <a:p>
            <a:r>
              <a:t>if __name__ == '__main__':</a:t>
            </a:r>
          </a:p>
          <a:p>
            <a:r>
              <a:t>    main()</a:t>
            </a:r>
          </a:p>
          <a:p/>
          <a:p>
            <a:r>
              <a:t>```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PU_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81199" y="1079500"/>
            <a:ext cx="8229599" cy="4381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4400" b="1">
                <a:solidFill>
                  <a:srgbClr val="00132A"/>
                </a:solidFill>
                <a:latin typeface="Arial"/>
              </a:defRPr>
            </a:pPr>
            <a:r>
              <a:t>Welcome Slide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35199" y="5556250"/>
            <a:ext cx="7721599" cy="330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21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000" b="1">
                <a:solidFill>
                  <a:srgbClr val="00132A"/>
                </a:solidFill>
                <a:latin typeface="Segoe UI"/>
              </a:defRPr>
            </a:pPr>
            <a:r>
              <a:t>Presented By Prof. Tester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35199" y="1822449"/>
            <a:ext cx="7721599" cy="3175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200"/>
              </a:spcAft>
              <a:defRPr sz="3000">
                <a:solidFill>
                  <a:srgbClr val="0F172A"/>
                </a:solidFill>
                <a:latin typeface="Segoe UI"/>
              </a:defRPr>
            </a:pPr>
            <a:r>
              <a:t>•  Overview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PU_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81199" y="1079500"/>
            <a:ext cx="8229599" cy="4381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4400" b="1">
                <a:solidFill>
                  <a:srgbClr val="00132A"/>
                </a:solidFill>
                <a:latin typeface="Arial"/>
              </a:defRPr>
            </a:pPr>
            <a:r>
              <a:t>Original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81199" y="6095999"/>
            <a:ext cx="8229599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>
                <a:solidFill>
                  <a:srgbClr val="64748B"/>
                </a:solidFill>
                <a:latin typeface="Segoe UI"/>
              </a:defRPr>
            </a:pPr>
            <a:r>
              <a:t>DPU   •   Original Concept   •   Slide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81199" y="1695449"/>
            <a:ext cx="3505199" cy="2159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200"/>
              </a:spcAft>
              <a:defRPr sz="3000">
                <a:solidFill>
                  <a:srgbClr val="0F172A"/>
                </a:solidFill>
                <a:latin typeface="Segoe UI"/>
              </a:defRPr>
            </a:pPr>
            <a:r>
              <a:t>•  Refined: Focus on Python generators and</a:t>
            </a:r>
          </a:p>
          <a:p>
            <a:pPr algn="l">
              <a:spcAft>
                <a:spcPts val="1200"/>
              </a:spcAft>
              <a:defRPr sz="3000">
                <a:solidFill>
                  <a:srgbClr val="0F172A"/>
                </a:solidFill>
                <a:latin typeface="Segoe UI"/>
              </a:defRPr>
            </a:pPr>
            <a:r>
              <a:t>•  Original Bullet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40399" y="1695449"/>
            <a:ext cx="4470399" cy="215900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800"/>
              </a:spcAft>
              <a:defRPr sz="1200">
                <a:solidFill>
                  <a:srgbClr val="60A5FA"/>
                </a:solidFill>
                <a:latin typeface="Consolas"/>
              </a:defRPr>
            </a:pPr>
            <a:r>
              <a:t>// Language: PYTHON 3.12.8</a:t>
            </a:r>
          </a:p>
          <a:p>
            <a:pPr>
              <a:spcAft>
                <a:spcPts val="200"/>
              </a:spcAft>
              <a:defRPr sz="2000">
                <a:latin typeface="Consolas"/>
              </a:defRPr>
            </a:pPr>
            <a:r>
              <a:rPr sz="2000">
                <a:solidFill>
                  <a:srgbClr val="788291"/>
                </a:solidFill>
                <a:latin typeface="Consolas"/>
              </a:rPr>
              <a:t># Concept: Original Concept</a:t>
            </a:r>
          </a:p>
          <a:p>
            <a:pPr>
              <a:spcAft>
                <a:spcPts val="200"/>
              </a:spcAft>
              <a:defRPr sz="2000">
                <a:latin typeface="Consolas"/>
              </a:defRPr>
            </a:pPr>
            <a:r>
              <a:rPr sz="2000">
                <a:solidFill>
                  <a:srgbClr val="F0F4FA"/>
                </a:solidFill>
                <a:latin typeface="Consolas"/>
              </a:rPr>
              <a:t>message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56B6C2"/>
                </a:solidFill>
                <a:latin typeface="Consolas"/>
              </a:rPr>
              <a:t>=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98C379"/>
                </a:solidFill>
                <a:latin typeface="Consolas"/>
              </a:rPr>
              <a:t>"</a:t>
            </a:r>
            <a:r>
              <a:rPr sz="2000">
                <a:solidFill>
                  <a:srgbClr val="98C379"/>
                </a:solidFill>
                <a:latin typeface="Consolas"/>
              </a:rPr>
              <a:t>Original Concept Executed in Python 3.12</a:t>
            </a:r>
            <a:r>
              <a:rPr sz="2000">
                <a:solidFill>
                  <a:srgbClr val="98C379"/>
                </a:solidFill>
                <a:latin typeface="Consolas"/>
              </a:rPr>
              <a:t>"</a:t>
            </a:r>
          </a:p>
          <a:p>
            <a:pPr>
              <a:spcAft>
                <a:spcPts val="200"/>
              </a:spcAft>
              <a:defRPr sz="2000">
                <a:latin typeface="Consolas"/>
              </a:defRPr>
            </a:pPr>
            <a:r>
              <a:rPr sz="2000">
                <a:solidFill>
                  <a:srgbClr val="E5C07B"/>
                </a:solidFill>
                <a:latin typeface="Consolas"/>
              </a:rPr>
              <a:t>print</a:t>
            </a:r>
            <a:r>
              <a:rPr sz="2000">
                <a:solidFill>
                  <a:srgbClr val="ABB2BF"/>
                </a:solidFill>
                <a:latin typeface="Consolas"/>
              </a:rPr>
              <a:t>(</a:t>
            </a:r>
            <a:r>
              <a:rPr sz="2000">
                <a:solidFill>
                  <a:srgbClr val="F0F4FA"/>
                </a:solidFill>
                <a:latin typeface="Consolas"/>
              </a:rPr>
              <a:t>message</a:t>
            </a:r>
            <a:r>
              <a:rPr sz="2000">
                <a:solidFill>
                  <a:srgbClr val="ABB2BF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  <a:defRPr sz="2000">
                <a:latin typeface="Consolas"/>
              </a:defRPr>
            </a:pPr>
            <a:r>
              <a:rPr sz="2000">
                <a:solidFill>
                  <a:srgbClr val="C678DD"/>
                </a:solidFill>
                <a:latin typeface="Consolas"/>
              </a:rPr>
              <a:t>return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F0F4FA"/>
                </a:solidFill>
                <a:latin typeface="Consolas"/>
              </a:rPr>
              <a:t>message</a:t>
            </a:r>
          </a:p>
          <a:p>
            <a:pPr>
              <a:spcAft>
                <a:spcPts val="200"/>
              </a:spcAft>
              <a:defRPr sz="2000">
                <a:latin typeface="Consolas"/>
              </a:defRPr>
            </a:pPr>
            <a:r>
              <a:rPr sz="2000">
                <a:solidFill>
                  <a:srgbClr val="F0F4FA"/>
                </a:solidFill>
                <a:latin typeface="Consolas"/>
              </a:rPr>
              <a:t>asyncio</a:t>
            </a:r>
            <a:r>
              <a:rPr sz="2000">
                <a:solidFill>
                  <a:srgbClr val="56B6C2"/>
                </a:solidFill>
                <a:latin typeface="Consolas"/>
              </a:rPr>
              <a:t>.</a:t>
            </a:r>
            <a:r>
              <a:rPr sz="2000">
                <a:solidFill>
                  <a:srgbClr val="F0F4FA"/>
                </a:solidFill>
                <a:latin typeface="Consolas"/>
              </a:rPr>
              <a:t>run</a:t>
            </a:r>
            <a:r>
              <a:rPr sz="2000">
                <a:solidFill>
                  <a:srgbClr val="ABB2BF"/>
                </a:solidFill>
                <a:latin typeface="Consolas"/>
              </a:rPr>
              <a:t>(</a:t>
            </a:r>
            <a:r>
              <a:rPr sz="2000">
                <a:solidFill>
                  <a:srgbClr val="F0F4FA"/>
                </a:solidFill>
                <a:latin typeface="Consolas"/>
              </a:rPr>
              <a:t>demonstrate_concept</a:t>
            </a:r>
            <a:r>
              <a:rPr sz="2000">
                <a:solidFill>
                  <a:srgbClr val="ABB2BF"/>
                </a:solidFill>
                <a:latin typeface="Consolas"/>
              </a:rPr>
              <a:t>(</a:t>
            </a:r>
            <a:r>
              <a:rPr sz="2000">
                <a:solidFill>
                  <a:srgbClr val="ABB2BF"/>
                </a:solidFill>
                <a:latin typeface="Consolas"/>
              </a:rPr>
              <a:t>)</a:t>
            </a:r>
            <a:r>
              <a:rPr sz="2000">
                <a:solidFill>
                  <a:srgbClr val="ABB2BF"/>
                </a:solidFill>
                <a:latin typeface="Consolas"/>
              </a:rPr>
              <a:t>)</a:t>
            </a:r>
          </a:p>
          <a:p>
            <a:pPr>
              <a:spcBef>
                <a:spcPts val="1200"/>
              </a:spcBef>
            </a:pPr>
            <a:r>
              <a:rPr sz="1800" b="1">
                <a:solidFill>
                  <a:srgbClr val="4ADE80"/>
                </a:solidFill>
                <a:latin typeface="Consolas"/>
              </a:rPr>
              <a:t>Expected Output: </a:t>
            </a:r>
            <a:r>
              <a:rPr sz="1800">
                <a:solidFill>
                  <a:srgbClr val="E2E8F0"/>
                </a:solidFill>
                <a:latin typeface="Consolas"/>
              </a:rPr>
              <a:t>Original Concept Executed in Python 3.12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PU_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81199" y="1079500"/>
            <a:ext cx="8229599" cy="4381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4400" b="1">
                <a:solidFill>
                  <a:srgbClr val="00132A"/>
                </a:solidFill>
                <a:latin typeface="Arial"/>
              </a:defRPr>
            </a:pPr>
            <a:r>
              <a:t>Closing Slide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81199" y="6095999"/>
            <a:ext cx="8229599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>
                <a:solidFill>
                  <a:srgbClr val="64748B"/>
                </a:solidFill>
                <a:latin typeface="Segoe UI"/>
              </a:defRPr>
            </a:pPr>
            <a:r>
              <a:t>DPU   •   Closing Slide   •   Slide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71699" y="1758949"/>
            <a:ext cx="7848599" cy="380999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200"/>
              </a:spcAft>
              <a:defRPr sz="3000">
                <a:solidFill>
                  <a:srgbClr val="0F172A"/>
                </a:solidFill>
                <a:latin typeface="Segoe UI"/>
              </a:defRPr>
            </a:pPr>
            <a:r>
              <a:t>•  Summary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