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Hint:</a:t>
            </a:r>
          </a:p>
          <a:p>
            <a:r>
              <a:t>Welcome students and set clear expectations for today's session.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Hint:</a:t>
            </a:r>
          </a:p>
          <a:p>
            <a:r>
              <a:t>Introduce the concept of indexes and their benefits.</a:t>
            </a:r>
          </a:p>
          <a:p/>
          <a:p>
            <a:r>
              <a:t>Trainer Notes:</a:t>
            </a:r>
          </a:p>
          <a:p>
            <a:r>
              <a:t>Complete Runnable File (ex_postgresql_s3_introduction_to_indexing):</a:t>
            </a:r>
          </a:p>
          <a:p>
            <a:r>
              <a:t>```postgresql</a:t>
            </a:r>
          </a:p>
          <a:p>
            <a:r>
              <a:t>-- Concept: Introduction to Indexing</a:t>
            </a:r>
          </a:p>
          <a:p>
            <a:r>
              <a:t>CREATE TEMP TABLE concept_demo (id SERIAL PRIMARY KEY, name TEXT);</a:t>
            </a:r>
          </a:p>
          <a:p>
            <a:r>
              <a:t>INSERT INTO concept_demo (name) VALUES ('Alpha'), ('Beta');</a:t>
            </a:r>
          </a:p>
          <a:p>
            <a:r>
              <a:t>SELECT id, name FROM concept_demo ORDER BY id;</a:t>
            </a:r>
          </a:p>
          <a:p/>
          <a:p>
            <a:r>
              <a:t>```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Hint:</a:t>
            </a:r>
          </a:p>
          <a:p>
            <a:r>
              <a:t>Explain the different types of indexes available.</a:t>
            </a:r>
          </a:p>
          <a:p/>
          <a:p>
            <a:r>
              <a:t>Trainer Notes:</a:t>
            </a:r>
          </a:p>
          <a:p>
            <a:r>
              <a:t>Complete Runnable File (ex_postgresql_s4_types_of_indexes):</a:t>
            </a:r>
          </a:p>
          <a:p>
            <a:r>
              <a:t>```postgresql</a:t>
            </a:r>
          </a:p>
          <a:p>
            <a:r>
              <a:t>-- Concept: Types of Indexes</a:t>
            </a:r>
          </a:p>
          <a:p>
            <a:r>
              <a:t>CREATE TEMP TABLE concept_demo (id SERIAL PRIMARY KEY, name TEXT);</a:t>
            </a:r>
          </a:p>
          <a:p>
            <a:r>
              <a:t>INSERT INTO concept_demo (name) VALUES ('Alpha'), ('Beta');</a:t>
            </a:r>
          </a:p>
          <a:p>
            <a:r>
              <a:t>SELECT id, name FROM concept_demo ORDER BY id;</a:t>
            </a:r>
          </a:p>
          <a:p/>
          <a:p>
            <a:r>
              <a:t>```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Hint:</a:t>
            </a:r>
          </a:p>
          <a:p>
            <a:r>
              <a:t>Show how to create an index using the CREATE INDEX statement.</a:t>
            </a:r>
          </a:p>
          <a:p/>
          <a:p>
            <a:r>
              <a:t>Trainer Notes:</a:t>
            </a:r>
          </a:p>
          <a:p>
            <a:r>
              <a:t>Complete Runnable File (ex_postgresql_s5_creating_indexes):</a:t>
            </a:r>
          </a:p>
          <a:p>
            <a:r>
              <a:t>```postgresql</a:t>
            </a:r>
          </a:p>
          <a:p>
            <a:r>
              <a:t>-- Concept: Creating Indexes</a:t>
            </a:r>
          </a:p>
          <a:p>
            <a:r>
              <a:t>CREATE TEMP TABLE concept_demo (id SERIAL PRIMARY KEY, name TEXT);</a:t>
            </a:r>
          </a:p>
          <a:p>
            <a:r>
              <a:t>INSERT INTO concept_demo (name) VALUES ('Alpha'), ('Beta');</a:t>
            </a:r>
          </a:p>
          <a:p>
            <a:r>
              <a:t>SELECT id, name FROM concept_demo ORDER BY id;</a:t>
            </a:r>
          </a:p>
          <a:p/>
          <a:p>
            <a:r>
              <a:t>```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Hint:</a:t>
            </a:r>
          </a:p>
          <a:p>
            <a:r>
              <a:t>Demonstrate creating a simple B-Tree index.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Hint:</a:t>
            </a:r>
          </a:p>
          <a:p>
            <a:r>
              <a:t>Introduce EXPLAIN and EXPLAIN ANALYZE commands.</a:t>
            </a:r>
          </a:p>
          <a:p/>
          <a:p>
            <a:r>
              <a:t>Trainer Notes:</a:t>
            </a:r>
          </a:p>
          <a:p>
            <a:r>
              <a:t>Complete Runnable File (ex_postgresql_s7_explain_plans):</a:t>
            </a:r>
          </a:p>
          <a:p>
            <a:r>
              <a:t>```postgresql</a:t>
            </a:r>
          </a:p>
          <a:p>
            <a:r>
              <a:t>-- Concept: EXPLAIN Plans</a:t>
            </a:r>
          </a:p>
          <a:p>
            <a:r>
              <a:t>CREATE TEMP TABLE concept_demo (id SERIAL PRIMARY KEY, name TEXT);</a:t>
            </a:r>
          </a:p>
          <a:p>
            <a:r>
              <a:t>INSERT INTO concept_demo (name) VALUES ('Alpha'), ('Beta');</a:t>
            </a:r>
          </a:p>
          <a:p>
            <a:r>
              <a:t>SELECT id, name FROM concept_demo ORDER BY id;</a:t>
            </a:r>
          </a:p>
          <a:p/>
          <a:p>
            <a:r>
              <a:t>```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Hint:</a:t>
            </a:r>
          </a:p>
          <a:p>
            <a:r>
              <a:t>Discuss the meaning of different EXPLAIN output components.</a:t>
            </a:r>
          </a:p>
          <a:p/>
          <a:p>
            <a:r>
              <a:t>Trainer Notes:</a:t>
            </a:r>
          </a:p>
          <a:p>
            <a:r>
              <a:t>Complete Runnable File (ex_postgresql_s8_understanding_explain_ou):</a:t>
            </a:r>
          </a:p>
          <a:p>
            <a:r>
              <a:t>```postgresql</a:t>
            </a:r>
          </a:p>
          <a:p>
            <a:r>
              <a:t>-- Concept: Understanding EXPLAIN Output</a:t>
            </a:r>
          </a:p>
          <a:p>
            <a:r>
              <a:t>CREATE TEMP TABLE concept_demo (id SERIAL PRIMARY KEY, name TEXT);</a:t>
            </a:r>
          </a:p>
          <a:p>
            <a:r>
              <a:t>INSERT INTO concept_demo (name) VALUES ('Alpha'), ('Beta');</a:t>
            </a:r>
          </a:p>
          <a:p>
            <a:r>
              <a:t>SELECT id, name FROM concept_demo ORDER BY id;</a:t>
            </a:r>
          </a:p>
          <a:p/>
          <a:p>
            <a:r>
              <a:t>```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Hint:</a:t>
            </a:r>
          </a:p>
          <a:p>
            <a:r>
              <a:t>Practice using EXPLAIN to analyze query performance.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Hint:</a:t>
            </a:r>
          </a:p>
          <a:p>
            <a:r>
              <a:t>Summarize key takeaways from the session.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Hint:</a:t>
            </a:r>
          </a:p>
          <a:p>
            <a:r>
              <a:t>Thank students for their attention and invite 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1600" y="1828800"/>
            <a:ext cx="9445752" cy="164592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40480"/>
            <a:ext cx="9445752" cy="109728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371600" y="6217920"/>
            <a:ext cx="8229600" cy="32004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950976"/>
            <a:ext cx="9445752" cy="64008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71600" y="1709928"/>
            <a:ext cx="9445752" cy="429768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371600" y="6217920"/>
            <a:ext cx="8229600" cy="32004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058400" y="6217920"/>
            <a:ext cx="914400" cy="32004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950976"/>
            <a:ext cx="9445752" cy="64008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371600" y="1709928"/>
            <a:ext cx="4572000" cy="429768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709928"/>
            <a:ext cx="4572000" cy="429768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371600" y="6217920"/>
            <a:ext cx="8229600" cy="32004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058400" y="6217920"/>
            <a:ext cx="914400" cy="32004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4" name="Picture 3" descr="DPU_Brand_templ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1599" y="1079500"/>
            <a:ext cx="9448799" cy="438149"/>
          </a:xfrm>
        </p:spPr>
        <p:txBody>
          <a:bodyPr wrap="square"/>
          <a:lstStyle/>
          <a:p>
            <a:pPr algn="l">
              <a:defRPr sz="4400" b="1">
                <a:solidFill>
                  <a:srgbClr val="C0392B"/>
                </a:solidFill>
                <a:latin typeface="Arial"/>
              </a:defRPr>
            </a:pPr>
            <a:r>
              <a:t>PostgreSQL 16 Advanced Indexing &amp; EXPLAIN Plans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599" y="5397500"/>
            <a:ext cx="9448799" cy="330200"/>
          </a:xfrm>
        </p:spPr>
        <p:txBody>
          <a:bodyPr wrap="square"/>
          <a:lstStyle/>
          <a:p>
            <a:pPr algn="l">
              <a:defRPr sz="3000" b="1">
                <a:solidFill>
                  <a:srgbClr val="002147"/>
                </a:solidFill>
                <a:latin typeface="Segoe UI"/>
              </a:defRPr>
            </a:pPr>
            <a:r>
              <a:t>Presented By sam</a:t>
            </a:r>
          </a:p>
          <a:p>
            <a:pPr algn="l">
              <a:defRPr sz="1600">
                <a:solidFill>
                  <a:srgbClr val="64748B"/>
                </a:solidFill>
                <a:latin typeface="Segoe UI"/>
              </a:defRPr>
            </a:pPr>
            <a:r>
              <a:t>DPU Course Material</a:t>
            </a:r>
          </a:p>
        </p:txBody>
      </p:sp>
      <p:pic>
        <p:nvPicPr>
          <p:cNvPr id="5" name="Picture 4" descr="dpu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82880"/>
            <a:ext cx="2926080" cy="731520"/>
          </a:xfrm>
          <a:prstGeom prst="rect">
            <a:avLst/>
          </a:prstGeom>
        </p:spPr>
      </p:pic>
      <p:sp>
        <p:nvSpPr>
          <p:cNvPr id="6" name="Footer Placeholder"/>
          <p:cNvSpPr txBox="1"/>
          <p:nvPr/>
        </p:nvSpPr>
        <p:spPr>
          <a:xfrm>
            <a:off x="1371599" y="6223000"/>
            <a:ext cx="8889999" cy="285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>
                <a:solidFill>
                  <a:srgbClr val="64748B"/>
                </a:solidFill>
                <a:latin typeface="Segoe UI"/>
              </a:defRPr>
            </a:pPr>
            <a:r>
              <a:t>Dr. D. Y. Patil Vidyapeeth, Pune (Deemed to be University)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4" name="Picture 3" descr="DPU_Brand_templ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599" y="1079500"/>
            <a:ext cx="9448799" cy="438149"/>
          </a:xfrm>
        </p:spPr>
        <p:txBody>
          <a:bodyPr wrap="square"/>
          <a:lstStyle/>
          <a:p>
            <a:pPr algn="l">
              <a:defRPr sz="4400" b="1">
                <a:solidFill>
                  <a:srgbClr val="C0392B"/>
                </a:solidFill>
                <a:latin typeface="Arial"/>
              </a:defRPr>
            </a:pPr>
            <a:r>
              <a:t>PostgreSQL 16 Advanced Indexing &amp; EXPLAIN Plans: Part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pic>
        <p:nvPicPr>
          <p:cNvPr id="5" name="Picture 4" descr="dpu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82880"/>
            <a:ext cx="2926080" cy="731520"/>
          </a:xfrm>
          <a:prstGeom prst="rect">
            <a:avLst/>
          </a:prstGeom>
        </p:spPr>
      </p:pic>
      <p:sp>
        <p:nvSpPr>
          <p:cNvPr id="6" name="Footer Placeholder"/>
          <p:cNvSpPr txBox="1"/>
          <p:nvPr/>
        </p:nvSpPr>
        <p:spPr>
          <a:xfrm>
            <a:off x="1371599" y="6223000"/>
            <a:ext cx="8889999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>
                <a:solidFill>
                  <a:srgbClr val="64748B"/>
                </a:solidFill>
                <a:latin typeface="Segoe UI"/>
              </a:defRPr>
            </a:pPr>
            <a:r>
              <a:t>Dr. D. Y. Patil Vidyapeeth, Pune (Deemed to be University)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5" name="Picture 4" descr="DPU_Brand_templ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599" y="1079500"/>
            <a:ext cx="9448799" cy="438149"/>
          </a:xfrm>
        </p:spPr>
        <p:txBody>
          <a:bodyPr wrap="square"/>
          <a:lstStyle/>
          <a:p>
            <a:pPr algn="l">
              <a:defRPr sz="4400" b="1">
                <a:solidFill>
                  <a:srgbClr val="C0392B"/>
                </a:solidFill>
                <a:latin typeface="Arial"/>
              </a:defRPr>
            </a:pPr>
            <a:r>
              <a:t>Introduction to Indexing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>
          <a:xfrm>
            <a:off x="1371599" y="1695449"/>
            <a:ext cx="4044949" cy="2159000"/>
          </a:xfrm>
        </p:spPr>
        <p:txBody>
          <a:bodyPr wrap="square" anchor="t"/>
          <a:lstStyle/>
          <a:p>
            <a:pPr algn="l">
              <a:spcAft>
                <a:spcPts val="10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Indexes speed up SELECT queries</a:t>
            </a:r>
          </a:p>
          <a:p>
            <a:pPr algn="l">
              <a:spcAft>
                <a:spcPts val="10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Create indexes on frequently queried columns</a:t>
            </a:r>
          </a:p>
          <a:p>
            <a:pPr algn="l">
              <a:spcAft>
                <a:spcPts val="10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Indexes can be created on multiple columns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>
          <a:xfrm>
            <a:off x="5670549" y="1695449"/>
            <a:ext cx="5149849" cy="2159000"/>
          </a:xfrm>
        </p:spPr>
        <p:txBody>
          <a:bodyPr/>
          <a:lstStyle/>
          <a:p/>
        </p:txBody>
      </p:sp>
      <p:pic>
        <p:nvPicPr>
          <p:cNvPr id="6" name="Picture 5" descr="dpu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82880"/>
            <a:ext cx="2926080" cy="73152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670549" y="1695449"/>
            <a:ext cx="5149849" cy="2159000"/>
          </a:xfrm>
          <a:prstGeom prst="roundRect">
            <a:avLst/>
          </a:prstGeom>
          <a:solidFill>
            <a:srgbClr val="1E1E2E"/>
          </a:solidFill>
          <a:ln w="19050">
            <a:solidFill>
              <a:srgbClr val="0021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/>
          <a:lstStyle/>
          <a:p>
            <a:pPr algn="ctr">
              <a:spcAft>
                <a:spcPts val="600"/>
              </a:spcAft>
              <a:defRPr sz="1400">
                <a:solidFill>
                  <a:srgbClr val="60A5FA"/>
                </a:solidFill>
                <a:latin typeface="Consolas"/>
              </a:defRPr>
            </a:pPr>
            <a:r>
              <a:t>// POSTGRESQL 16.6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788291"/>
                </a:solidFill>
                <a:latin typeface="Consolas"/>
              </a:rPr>
              <a:t>-- Concept: Introduction to Indexing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C678DD"/>
                </a:solidFill>
                <a:latin typeface="Consolas"/>
              </a:rPr>
              <a:t>CREATE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C678DD"/>
                </a:solidFill>
                <a:latin typeface="Consolas"/>
              </a:rPr>
              <a:t>TEMP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C678DD"/>
                </a:solidFill>
                <a:latin typeface="Consolas"/>
              </a:rPr>
              <a:t>TABLE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F0F4FA"/>
                </a:solidFill>
                <a:latin typeface="Consolas"/>
              </a:rPr>
              <a:t>concept_demo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ABB2BF"/>
                </a:solidFill>
                <a:latin typeface="Consolas"/>
              </a:rPr>
              <a:t>(</a:t>
            </a:r>
            <a:r>
              <a:rPr sz="1400">
                <a:solidFill>
                  <a:srgbClr val="F0F4FA"/>
                </a:solidFill>
                <a:latin typeface="Consolas"/>
              </a:rPr>
              <a:t>id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E5C07B"/>
                </a:solidFill>
                <a:latin typeface="Consolas"/>
              </a:rPr>
              <a:t>SERIAL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C678DD"/>
                </a:solidFill>
                <a:latin typeface="Consolas"/>
              </a:rPr>
              <a:t>PRIMARY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C678DD"/>
                </a:solidFill>
                <a:latin typeface="Consolas"/>
              </a:rPr>
              <a:t>KEY</a:t>
            </a:r>
            <a:r>
              <a:rPr sz="1400">
                <a:solidFill>
                  <a:srgbClr val="ABB2BF"/>
                </a:solidFill>
                <a:latin typeface="Consolas"/>
              </a:rPr>
              <a:t>,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F0F4FA"/>
                </a:solidFill>
                <a:latin typeface="Consolas"/>
              </a:rPr>
              <a:t>na</a:t>
            </a:r>
            <a:r>
              <a:rPr sz="1400">
                <a:solidFill>
                  <a:srgbClr val="D19A66"/>
                </a:solidFill>
                <a:latin typeface="Consolas"/>
              </a:rPr>
              <a:t>.</a:t>
            </a:r>
            <a:r>
              <a:rPr sz="1400">
                <a:solidFill>
                  <a:srgbClr val="D19A66"/>
                </a:solidFill>
                <a:latin typeface="Consolas"/>
              </a:rPr>
              <a:t>.</a:t>
            </a:r>
            <a:r>
              <a:rPr sz="1400">
                <a:solidFill>
                  <a:srgbClr val="D19A66"/>
                </a:solidFill>
                <a:latin typeface="Consolas"/>
              </a:rPr>
              <a:t>.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C678DD"/>
                </a:solidFill>
                <a:latin typeface="Consolas"/>
              </a:rPr>
              <a:t>INSERT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C678DD"/>
                </a:solidFill>
                <a:latin typeface="Consolas"/>
              </a:rPr>
              <a:t>INTO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F0F4FA"/>
                </a:solidFill>
                <a:latin typeface="Consolas"/>
              </a:rPr>
              <a:t>concept_demo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ABB2BF"/>
                </a:solidFill>
                <a:latin typeface="Consolas"/>
              </a:rPr>
              <a:t>(</a:t>
            </a:r>
            <a:r>
              <a:rPr sz="1400">
                <a:solidFill>
                  <a:srgbClr val="C678DD"/>
                </a:solidFill>
                <a:latin typeface="Consolas"/>
              </a:rPr>
              <a:t>name</a:t>
            </a:r>
            <a:r>
              <a:rPr sz="1400">
                <a:solidFill>
                  <a:srgbClr val="ABB2BF"/>
                </a:solidFill>
                <a:latin typeface="Consolas"/>
              </a:rPr>
              <a:t>)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C678DD"/>
                </a:solidFill>
                <a:latin typeface="Consolas"/>
              </a:rPr>
              <a:t>VALUES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ABB2BF"/>
                </a:solidFill>
                <a:latin typeface="Consolas"/>
              </a:rPr>
              <a:t>(</a:t>
            </a:r>
            <a:r>
              <a:rPr sz="1400">
                <a:solidFill>
                  <a:srgbClr val="98C379"/>
                </a:solidFill>
                <a:latin typeface="Consolas"/>
              </a:rPr>
              <a:t>'</a:t>
            </a:r>
            <a:r>
              <a:rPr sz="1400">
                <a:solidFill>
                  <a:srgbClr val="98C379"/>
                </a:solidFill>
                <a:latin typeface="Consolas"/>
              </a:rPr>
              <a:t>Alpha</a:t>
            </a:r>
            <a:r>
              <a:rPr sz="1400">
                <a:solidFill>
                  <a:srgbClr val="98C379"/>
                </a:solidFill>
                <a:latin typeface="Consolas"/>
              </a:rPr>
              <a:t>'</a:t>
            </a:r>
            <a:r>
              <a:rPr sz="1400">
                <a:solidFill>
                  <a:srgbClr val="ABB2BF"/>
                </a:solidFill>
                <a:latin typeface="Consolas"/>
              </a:rPr>
              <a:t>)</a:t>
            </a:r>
            <a:r>
              <a:rPr sz="1400">
                <a:solidFill>
                  <a:srgbClr val="ABB2BF"/>
                </a:solidFill>
                <a:latin typeface="Consolas"/>
              </a:rPr>
              <a:t>,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ABB2BF"/>
                </a:solidFill>
                <a:latin typeface="Consolas"/>
              </a:rPr>
              <a:t>(</a:t>
            </a:r>
            <a:r>
              <a:rPr sz="1400">
                <a:solidFill>
                  <a:srgbClr val="98C379"/>
                </a:solidFill>
                <a:latin typeface="Consolas"/>
              </a:rPr>
              <a:t>'</a:t>
            </a:r>
            <a:r>
              <a:rPr sz="1400">
                <a:solidFill>
                  <a:srgbClr val="98C379"/>
                </a:solidFill>
                <a:latin typeface="Consolas"/>
              </a:rPr>
              <a:t>Beta</a:t>
            </a:r>
            <a:r>
              <a:rPr sz="1400">
                <a:solidFill>
                  <a:srgbClr val="98C379"/>
                </a:solidFill>
                <a:latin typeface="Consolas"/>
              </a:rPr>
              <a:t>'</a:t>
            </a:r>
            <a:r>
              <a:rPr sz="1400">
                <a:solidFill>
                  <a:srgbClr val="ABB2BF"/>
                </a:solidFill>
                <a:latin typeface="Consolas"/>
              </a:rPr>
              <a:t>)</a:t>
            </a:r>
            <a:r>
              <a:rPr sz="1400">
                <a:solidFill>
                  <a:srgbClr val="ABB2BF"/>
                </a:solidFill>
                <a:latin typeface="Consolas"/>
              </a:rPr>
              <a:t>;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C678DD"/>
                </a:solidFill>
                <a:latin typeface="Consolas"/>
              </a:rPr>
              <a:t>SELECT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F0F4FA"/>
                </a:solidFill>
                <a:latin typeface="Consolas"/>
              </a:rPr>
              <a:t>id</a:t>
            </a:r>
            <a:r>
              <a:rPr sz="1400">
                <a:solidFill>
                  <a:srgbClr val="ABB2BF"/>
                </a:solidFill>
                <a:latin typeface="Consolas"/>
              </a:rPr>
              <a:t>,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C678DD"/>
                </a:solidFill>
                <a:latin typeface="Consolas"/>
              </a:rPr>
              <a:t>name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C678DD"/>
                </a:solidFill>
                <a:latin typeface="Consolas"/>
              </a:rPr>
              <a:t>FROM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F0F4FA"/>
                </a:solidFill>
                <a:latin typeface="Consolas"/>
              </a:rPr>
              <a:t>concept_demo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C678DD"/>
                </a:solidFill>
                <a:latin typeface="Consolas"/>
              </a:rPr>
              <a:t>ORDER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C678DD"/>
                </a:solidFill>
                <a:latin typeface="Consolas"/>
              </a:rPr>
              <a:t>BY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F0F4FA"/>
                </a:solidFill>
                <a:latin typeface="Consolas"/>
              </a:rPr>
              <a:t>id</a:t>
            </a:r>
            <a:r>
              <a:rPr sz="1400">
                <a:solidFill>
                  <a:srgbClr val="ABB2BF"/>
                </a:solidFill>
                <a:latin typeface="Consolas"/>
              </a:rPr>
              <a:t>;</a:t>
            </a:r>
          </a:p>
        </p:txBody>
      </p:sp>
      <p:sp>
        <p:nvSpPr>
          <p:cNvPr id="8" name="Footer Placeholder"/>
          <p:cNvSpPr txBox="1"/>
          <p:nvPr/>
        </p:nvSpPr>
        <p:spPr>
          <a:xfrm>
            <a:off x="1371599" y="6223000"/>
            <a:ext cx="8889999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>
                <a:solidFill>
                  <a:srgbClr val="64748B"/>
                </a:solidFill>
                <a:latin typeface="Segoe UI"/>
              </a:defRPr>
            </a:pPr>
            <a:r>
              <a:t>Dr. D. Y. Patil Vidyapeeth, Pune (Deemed to be University)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5" name="Picture 4" descr="DPU_Brand_templ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599" y="1079500"/>
            <a:ext cx="9448799" cy="438149"/>
          </a:xfrm>
        </p:spPr>
        <p:txBody>
          <a:bodyPr wrap="square"/>
          <a:lstStyle/>
          <a:p>
            <a:pPr algn="l">
              <a:defRPr sz="4400" b="1">
                <a:solidFill>
                  <a:srgbClr val="C0392B"/>
                </a:solidFill>
                <a:latin typeface="Arial"/>
              </a:defRPr>
            </a:pPr>
            <a:r>
              <a:t>Types of Indexes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>
          <a:xfrm>
            <a:off x="1371599" y="1695449"/>
            <a:ext cx="4044949" cy="2159000"/>
          </a:xfrm>
        </p:spPr>
        <p:txBody>
          <a:bodyPr wrap="square" anchor="t"/>
          <a:lstStyle/>
          <a:p>
            <a:pPr algn="l">
              <a:spcAft>
                <a:spcPts val="10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B-Tree Indexes (default)</a:t>
            </a:r>
          </a:p>
          <a:p>
            <a:pPr algn="l">
              <a:spcAft>
                <a:spcPts val="10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Hash Indexes</a:t>
            </a:r>
          </a:p>
          <a:p>
            <a:pPr algn="l">
              <a:spcAft>
                <a:spcPts val="10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Spatial Indexes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>
          <a:xfrm>
            <a:off x="5670549" y="1695449"/>
            <a:ext cx="5149849" cy="2159000"/>
          </a:xfrm>
        </p:spPr>
        <p:txBody>
          <a:bodyPr/>
          <a:lstStyle/>
          <a:p/>
        </p:txBody>
      </p:sp>
      <p:pic>
        <p:nvPicPr>
          <p:cNvPr id="6" name="Picture 5" descr="dpu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82880"/>
            <a:ext cx="2926080" cy="73152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670549" y="1695449"/>
            <a:ext cx="5149849" cy="2159000"/>
          </a:xfrm>
          <a:prstGeom prst="roundRect">
            <a:avLst/>
          </a:prstGeom>
          <a:solidFill>
            <a:srgbClr val="1E1E2E"/>
          </a:solidFill>
          <a:ln w="19050">
            <a:solidFill>
              <a:srgbClr val="0021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/>
          <a:lstStyle/>
          <a:p>
            <a:pPr algn="ctr">
              <a:spcAft>
                <a:spcPts val="600"/>
              </a:spcAft>
              <a:defRPr sz="1400">
                <a:solidFill>
                  <a:srgbClr val="60A5FA"/>
                </a:solidFill>
                <a:latin typeface="Consolas"/>
              </a:defRPr>
            </a:pPr>
            <a:r>
              <a:t>// POSTGRESQL 16.6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788291"/>
                </a:solidFill>
                <a:latin typeface="Consolas"/>
              </a:rPr>
              <a:t>-- Concept: Types of Indexes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C678DD"/>
                </a:solidFill>
                <a:latin typeface="Consolas"/>
              </a:rPr>
              <a:t>CREATE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C678DD"/>
                </a:solidFill>
                <a:latin typeface="Consolas"/>
              </a:rPr>
              <a:t>TEMP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C678DD"/>
                </a:solidFill>
                <a:latin typeface="Consolas"/>
              </a:rPr>
              <a:t>TABLE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F0F4FA"/>
                </a:solidFill>
                <a:latin typeface="Consolas"/>
              </a:rPr>
              <a:t>concept_demo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ABB2BF"/>
                </a:solidFill>
                <a:latin typeface="Consolas"/>
              </a:rPr>
              <a:t>(</a:t>
            </a:r>
            <a:r>
              <a:rPr sz="1400">
                <a:solidFill>
                  <a:srgbClr val="F0F4FA"/>
                </a:solidFill>
                <a:latin typeface="Consolas"/>
              </a:rPr>
              <a:t>id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E5C07B"/>
                </a:solidFill>
                <a:latin typeface="Consolas"/>
              </a:rPr>
              <a:t>SERIAL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C678DD"/>
                </a:solidFill>
                <a:latin typeface="Consolas"/>
              </a:rPr>
              <a:t>PRIMARY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C678DD"/>
                </a:solidFill>
                <a:latin typeface="Consolas"/>
              </a:rPr>
              <a:t>KEY</a:t>
            </a:r>
            <a:r>
              <a:rPr sz="1400">
                <a:solidFill>
                  <a:srgbClr val="ABB2BF"/>
                </a:solidFill>
                <a:latin typeface="Consolas"/>
              </a:rPr>
              <a:t>,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F0F4FA"/>
                </a:solidFill>
                <a:latin typeface="Consolas"/>
              </a:rPr>
              <a:t>na</a:t>
            </a:r>
            <a:r>
              <a:rPr sz="1400">
                <a:solidFill>
                  <a:srgbClr val="D19A66"/>
                </a:solidFill>
                <a:latin typeface="Consolas"/>
              </a:rPr>
              <a:t>.</a:t>
            </a:r>
            <a:r>
              <a:rPr sz="1400">
                <a:solidFill>
                  <a:srgbClr val="D19A66"/>
                </a:solidFill>
                <a:latin typeface="Consolas"/>
              </a:rPr>
              <a:t>.</a:t>
            </a:r>
            <a:r>
              <a:rPr sz="1400">
                <a:solidFill>
                  <a:srgbClr val="D19A66"/>
                </a:solidFill>
                <a:latin typeface="Consolas"/>
              </a:rPr>
              <a:t>.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C678DD"/>
                </a:solidFill>
                <a:latin typeface="Consolas"/>
              </a:rPr>
              <a:t>INSERT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C678DD"/>
                </a:solidFill>
                <a:latin typeface="Consolas"/>
              </a:rPr>
              <a:t>INTO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F0F4FA"/>
                </a:solidFill>
                <a:latin typeface="Consolas"/>
              </a:rPr>
              <a:t>concept_demo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ABB2BF"/>
                </a:solidFill>
                <a:latin typeface="Consolas"/>
              </a:rPr>
              <a:t>(</a:t>
            </a:r>
            <a:r>
              <a:rPr sz="1400">
                <a:solidFill>
                  <a:srgbClr val="C678DD"/>
                </a:solidFill>
                <a:latin typeface="Consolas"/>
              </a:rPr>
              <a:t>name</a:t>
            </a:r>
            <a:r>
              <a:rPr sz="1400">
                <a:solidFill>
                  <a:srgbClr val="ABB2BF"/>
                </a:solidFill>
                <a:latin typeface="Consolas"/>
              </a:rPr>
              <a:t>)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C678DD"/>
                </a:solidFill>
                <a:latin typeface="Consolas"/>
              </a:rPr>
              <a:t>VALUES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ABB2BF"/>
                </a:solidFill>
                <a:latin typeface="Consolas"/>
              </a:rPr>
              <a:t>(</a:t>
            </a:r>
            <a:r>
              <a:rPr sz="1400">
                <a:solidFill>
                  <a:srgbClr val="98C379"/>
                </a:solidFill>
                <a:latin typeface="Consolas"/>
              </a:rPr>
              <a:t>'</a:t>
            </a:r>
            <a:r>
              <a:rPr sz="1400">
                <a:solidFill>
                  <a:srgbClr val="98C379"/>
                </a:solidFill>
                <a:latin typeface="Consolas"/>
              </a:rPr>
              <a:t>Alpha</a:t>
            </a:r>
            <a:r>
              <a:rPr sz="1400">
                <a:solidFill>
                  <a:srgbClr val="98C379"/>
                </a:solidFill>
                <a:latin typeface="Consolas"/>
              </a:rPr>
              <a:t>'</a:t>
            </a:r>
            <a:r>
              <a:rPr sz="1400">
                <a:solidFill>
                  <a:srgbClr val="ABB2BF"/>
                </a:solidFill>
                <a:latin typeface="Consolas"/>
              </a:rPr>
              <a:t>)</a:t>
            </a:r>
            <a:r>
              <a:rPr sz="1400">
                <a:solidFill>
                  <a:srgbClr val="ABB2BF"/>
                </a:solidFill>
                <a:latin typeface="Consolas"/>
              </a:rPr>
              <a:t>,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ABB2BF"/>
                </a:solidFill>
                <a:latin typeface="Consolas"/>
              </a:rPr>
              <a:t>(</a:t>
            </a:r>
            <a:r>
              <a:rPr sz="1400">
                <a:solidFill>
                  <a:srgbClr val="98C379"/>
                </a:solidFill>
                <a:latin typeface="Consolas"/>
              </a:rPr>
              <a:t>'</a:t>
            </a:r>
            <a:r>
              <a:rPr sz="1400">
                <a:solidFill>
                  <a:srgbClr val="98C379"/>
                </a:solidFill>
                <a:latin typeface="Consolas"/>
              </a:rPr>
              <a:t>Beta</a:t>
            </a:r>
            <a:r>
              <a:rPr sz="1400">
                <a:solidFill>
                  <a:srgbClr val="98C379"/>
                </a:solidFill>
                <a:latin typeface="Consolas"/>
              </a:rPr>
              <a:t>'</a:t>
            </a:r>
            <a:r>
              <a:rPr sz="1400">
                <a:solidFill>
                  <a:srgbClr val="ABB2BF"/>
                </a:solidFill>
                <a:latin typeface="Consolas"/>
              </a:rPr>
              <a:t>)</a:t>
            </a:r>
            <a:r>
              <a:rPr sz="1400">
                <a:solidFill>
                  <a:srgbClr val="ABB2BF"/>
                </a:solidFill>
                <a:latin typeface="Consolas"/>
              </a:rPr>
              <a:t>;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C678DD"/>
                </a:solidFill>
                <a:latin typeface="Consolas"/>
              </a:rPr>
              <a:t>SELECT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F0F4FA"/>
                </a:solidFill>
                <a:latin typeface="Consolas"/>
              </a:rPr>
              <a:t>id</a:t>
            </a:r>
            <a:r>
              <a:rPr sz="1400">
                <a:solidFill>
                  <a:srgbClr val="ABB2BF"/>
                </a:solidFill>
                <a:latin typeface="Consolas"/>
              </a:rPr>
              <a:t>,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C678DD"/>
                </a:solidFill>
                <a:latin typeface="Consolas"/>
              </a:rPr>
              <a:t>name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C678DD"/>
                </a:solidFill>
                <a:latin typeface="Consolas"/>
              </a:rPr>
              <a:t>FROM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F0F4FA"/>
                </a:solidFill>
                <a:latin typeface="Consolas"/>
              </a:rPr>
              <a:t>concept_demo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C678DD"/>
                </a:solidFill>
                <a:latin typeface="Consolas"/>
              </a:rPr>
              <a:t>ORDER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C678DD"/>
                </a:solidFill>
                <a:latin typeface="Consolas"/>
              </a:rPr>
              <a:t>BY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F0F4FA"/>
                </a:solidFill>
                <a:latin typeface="Consolas"/>
              </a:rPr>
              <a:t>id</a:t>
            </a:r>
            <a:r>
              <a:rPr sz="1400">
                <a:solidFill>
                  <a:srgbClr val="ABB2BF"/>
                </a:solidFill>
                <a:latin typeface="Consolas"/>
              </a:rPr>
              <a:t>;</a:t>
            </a:r>
          </a:p>
        </p:txBody>
      </p:sp>
      <p:sp>
        <p:nvSpPr>
          <p:cNvPr id="8" name="Footer Placeholder"/>
          <p:cNvSpPr txBox="1"/>
          <p:nvPr/>
        </p:nvSpPr>
        <p:spPr>
          <a:xfrm>
            <a:off x="1371599" y="6223000"/>
            <a:ext cx="8889999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>
                <a:solidFill>
                  <a:srgbClr val="64748B"/>
                </a:solidFill>
                <a:latin typeface="Segoe UI"/>
              </a:defRPr>
            </a:pPr>
            <a:r>
              <a:t>Dr. D. Y. Patil Vidyapeeth, Pune (Deemed to be University)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5" name="Picture 4" descr="DPU_Brand_templ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599" y="1079500"/>
            <a:ext cx="9448799" cy="438149"/>
          </a:xfrm>
        </p:spPr>
        <p:txBody>
          <a:bodyPr wrap="square"/>
          <a:lstStyle/>
          <a:p>
            <a:pPr algn="l">
              <a:defRPr sz="4400" b="1">
                <a:solidFill>
                  <a:srgbClr val="C0392B"/>
                </a:solidFill>
                <a:latin typeface="Arial"/>
              </a:defRPr>
            </a:pPr>
            <a:r>
              <a:t>Creating Indexes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>
          <a:xfrm>
            <a:off x="1371599" y="1695449"/>
            <a:ext cx="4044949" cy="2159000"/>
          </a:xfrm>
        </p:spPr>
        <p:txBody>
          <a:bodyPr wrap="square" anchor="t"/>
          <a:lstStyle/>
          <a:p>
            <a:pPr algn="l">
              <a:spcAft>
                <a:spcPts val="10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CREATE INDEX statement</a:t>
            </a:r>
          </a:p>
          <a:p>
            <a:pPr algn="l">
              <a:spcAft>
                <a:spcPts val="10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Example: CREATE INDEX idx_name ON table_name (column1, column2)</a:t>
            </a:r>
          </a:p>
          <a:p>
            <a:pPr algn="l">
              <a:spcAft>
                <a:spcPts val="10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Index names are optional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>
          <a:xfrm>
            <a:off x="5670549" y="1695449"/>
            <a:ext cx="5149849" cy="2159000"/>
          </a:xfrm>
        </p:spPr>
        <p:txBody>
          <a:bodyPr/>
          <a:lstStyle/>
          <a:p/>
        </p:txBody>
      </p:sp>
      <p:pic>
        <p:nvPicPr>
          <p:cNvPr id="6" name="Picture 5" descr="dpu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82880"/>
            <a:ext cx="2926080" cy="73152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670549" y="1695449"/>
            <a:ext cx="5149849" cy="2159000"/>
          </a:xfrm>
          <a:prstGeom prst="roundRect">
            <a:avLst/>
          </a:prstGeom>
          <a:solidFill>
            <a:srgbClr val="1E1E2E"/>
          </a:solidFill>
          <a:ln w="19050">
            <a:solidFill>
              <a:srgbClr val="0021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/>
          <a:lstStyle/>
          <a:p>
            <a:pPr algn="ctr">
              <a:spcAft>
                <a:spcPts val="600"/>
              </a:spcAft>
              <a:defRPr sz="1400">
                <a:solidFill>
                  <a:srgbClr val="60A5FA"/>
                </a:solidFill>
                <a:latin typeface="Consolas"/>
              </a:defRPr>
            </a:pPr>
            <a:r>
              <a:t>// POSTGRESQL 16.6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788291"/>
                </a:solidFill>
                <a:latin typeface="Consolas"/>
              </a:rPr>
              <a:t>-- Concept: Creating Indexes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C678DD"/>
                </a:solidFill>
                <a:latin typeface="Consolas"/>
              </a:rPr>
              <a:t>CREATE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C678DD"/>
                </a:solidFill>
                <a:latin typeface="Consolas"/>
              </a:rPr>
              <a:t>TEMP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C678DD"/>
                </a:solidFill>
                <a:latin typeface="Consolas"/>
              </a:rPr>
              <a:t>TABLE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F0F4FA"/>
                </a:solidFill>
                <a:latin typeface="Consolas"/>
              </a:rPr>
              <a:t>concept_demo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ABB2BF"/>
                </a:solidFill>
                <a:latin typeface="Consolas"/>
              </a:rPr>
              <a:t>(</a:t>
            </a:r>
            <a:r>
              <a:rPr sz="1400">
                <a:solidFill>
                  <a:srgbClr val="F0F4FA"/>
                </a:solidFill>
                <a:latin typeface="Consolas"/>
              </a:rPr>
              <a:t>id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E5C07B"/>
                </a:solidFill>
                <a:latin typeface="Consolas"/>
              </a:rPr>
              <a:t>SERIAL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C678DD"/>
                </a:solidFill>
                <a:latin typeface="Consolas"/>
              </a:rPr>
              <a:t>PRIMARY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C678DD"/>
                </a:solidFill>
                <a:latin typeface="Consolas"/>
              </a:rPr>
              <a:t>KEY</a:t>
            </a:r>
            <a:r>
              <a:rPr sz="1400">
                <a:solidFill>
                  <a:srgbClr val="ABB2BF"/>
                </a:solidFill>
                <a:latin typeface="Consolas"/>
              </a:rPr>
              <a:t>,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F0F4FA"/>
                </a:solidFill>
                <a:latin typeface="Consolas"/>
              </a:rPr>
              <a:t>na</a:t>
            </a:r>
            <a:r>
              <a:rPr sz="1400">
                <a:solidFill>
                  <a:srgbClr val="D19A66"/>
                </a:solidFill>
                <a:latin typeface="Consolas"/>
              </a:rPr>
              <a:t>.</a:t>
            </a:r>
            <a:r>
              <a:rPr sz="1400">
                <a:solidFill>
                  <a:srgbClr val="D19A66"/>
                </a:solidFill>
                <a:latin typeface="Consolas"/>
              </a:rPr>
              <a:t>.</a:t>
            </a:r>
            <a:r>
              <a:rPr sz="1400">
                <a:solidFill>
                  <a:srgbClr val="D19A66"/>
                </a:solidFill>
                <a:latin typeface="Consolas"/>
              </a:rPr>
              <a:t>.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C678DD"/>
                </a:solidFill>
                <a:latin typeface="Consolas"/>
              </a:rPr>
              <a:t>INSERT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C678DD"/>
                </a:solidFill>
                <a:latin typeface="Consolas"/>
              </a:rPr>
              <a:t>INTO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F0F4FA"/>
                </a:solidFill>
                <a:latin typeface="Consolas"/>
              </a:rPr>
              <a:t>concept_demo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ABB2BF"/>
                </a:solidFill>
                <a:latin typeface="Consolas"/>
              </a:rPr>
              <a:t>(</a:t>
            </a:r>
            <a:r>
              <a:rPr sz="1400">
                <a:solidFill>
                  <a:srgbClr val="C678DD"/>
                </a:solidFill>
                <a:latin typeface="Consolas"/>
              </a:rPr>
              <a:t>name</a:t>
            </a:r>
            <a:r>
              <a:rPr sz="1400">
                <a:solidFill>
                  <a:srgbClr val="ABB2BF"/>
                </a:solidFill>
                <a:latin typeface="Consolas"/>
              </a:rPr>
              <a:t>)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C678DD"/>
                </a:solidFill>
                <a:latin typeface="Consolas"/>
              </a:rPr>
              <a:t>VALUES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ABB2BF"/>
                </a:solidFill>
                <a:latin typeface="Consolas"/>
              </a:rPr>
              <a:t>(</a:t>
            </a:r>
            <a:r>
              <a:rPr sz="1400">
                <a:solidFill>
                  <a:srgbClr val="98C379"/>
                </a:solidFill>
                <a:latin typeface="Consolas"/>
              </a:rPr>
              <a:t>'</a:t>
            </a:r>
            <a:r>
              <a:rPr sz="1400">
                <a:solidFill>
                  <a:srgbClr val="98C379"/>
                </a:solidFill>
                <a:latin typeface="Consolas"/>
              </a:rPr>
              <a:t>Alpha</a:t>
            </a:r>
            <a:r>
              <a:rPr sz="1400">
                <a:solidFill>
                  <a:srgbClr val="98C379"/>
                </a:solidFill>
                <a:latin typeface="Consolas"/>
              </a:rPr>
              <a:t>'</a:t>
            </a:r>
            <a:r>
              <a:rPr sz="1400">
                <a:solidFill>
                  <a:srgbClr val="ABB2BF"/>
                </a:solidFill>
                <a:latin typeface="Consolas"/>
              </a:rPr>
              <a:t>)</a:t>
            </a:r>
            <a:r>
              <a:rPr sz="1400">
                <a:solidFill>
                  <a:srgbClr val="ABB2BF"/>
                </a:solidFill>
                <a:latin typeface="Consolas"/>
              </a:rPr>
              <a:t>,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ABB2BF"/>
                </a:solidFill>
                <a:latin typeface="Consolas"/>
              </a:rPr>
              <a:t>(</a:t>
            </a:r>
            <a:r>
              <a:rPr sz="1400">
                <a:solidFill>
                  <a:srgbClr val="98C379"/>
                </a:solidFill>
                <a:latin typeface="Consolas"/>
              </a:rPr>
              <a:t>'</a:t>
            </a:r>
            <a:r>
              <a:rPr sz="1400">
                <a:solidFill>
                  <a:srgbClr val="98C379"/>
                </a:solidFill>
                <a:latin typeface="Consolas"/>
              </a:rPr>
              <a:t>Beta</a:t>
            </a:r>
            <a:r>
              <a:rPr sz="1400">
                <a:solidFill>
                  <a:srgbClr val="98C379"/>
                </a:solidFill>
                <a:latin typeface="Consolas"/>
              </a:rPr>
              <a:t>'</a:t>
            </a:r>
            <a:r>
              <a:rPr sz="1400">
                <a:solidFill>
                  <a:srgbClr val="ABB2BF"/>
                </a:solidFill>
                <a:latin typeface="Consolas"/>
              </a:rPr>
              <a:t>)</a:t>
            </a:r>
            <a:r>
              <a:rPr sz="1400">
                <a:solidFill>
                  <a:srgbClr val="ABB2BF"/>
                </a:solidFill>
                <a:latin typeface="Consolas"/>
              </a:rPr>
              <a:t>;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C678DD"/>
                </a:solidFill>
                <a:latin typeface="Consolas"/>
              </a:rPr>
              <a:t>SELECT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F0F4FA"/>
                </a:solidFill>
                <a:latin typeface="Consolas"/>
              </a:rPr>
              <a:t>id</a:t>
            </a:r>
            <a:r>
              <a:rPr sz="1400">
                <a:solidFill>
                  <a:srgbClr val="ABB2BF"/>
                </a:solidFill>
                <a:latin typeface="Consolas"/>
              </a:rPr>
              <a:t>,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C678DD"/>
                </a:solidFill>
                <a:latin typeface="Consolas"/>
              </a:rPr>
              <a:t>name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C678DD"/>
                </a:solidFill>
                <a:latin typeface="Consolas"/>
              </a:rPr>
              <a:t>FROM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F0F4FA"/>
                </a:solidFill>
                <a:latin typeface="Consolas"/>
              </a:rPr>
              <a:t>concept_demo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C678DD"/>
                </a:solidFill>
                <a:latin typeface="Consolas"/>
              </a:rPr>
              <a:t>ORDER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C678DD"/>
                </a:solidFill>
                <a:latin typeface="Consolas"/>
              </a:rPr>
              <a:t>BY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F0F4FA"/>
                </a:solidFill>
                <a:latin typeface="Consolas"/>
              </a:rPr>
              <a:t>id</a:t>
            </a:r>
            <a:r>
              <a:rPr sz="1400">
                <a:solidFill>
                  <a:srgbClr val="ABB2BF"/>
                </a:solidFill>
                <a:latin typeface="Consolas"/>
              </a:rPr>
              <a:t>;</a:t>
            </a:r>
          </a:p>
        </p:txBody>
      </p:sp>
      <p:sp>
        <p:nvSpPr>
          <p:cNvPr id="8" name="Footer Placeholder"/>
          <p:cNvSpPr txBox="1"/>
          <p:nvPr/>
        </p:nvSpPr>
        <p:spPr>
          <a:xfrm>
            <a:off x="1371599" y="6223000"/>
            <a:ext cx="8889999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>
                <a:solidFill>
                  <a:srgbClr val="64748B"/>
                </a:solidFill>
                <a:latin typeface="Segoe UI"/>
              </a:defRPr>
            </a:pPr>
            <a:r>
              <a:t>Dr. D. Y. Patil Vidyapeeth, Pune (Deemed to be University)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4" name="Picture 3" descr="DPU_Brand_templ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599" y="1079500"/>
            <a:ext cx="9448799" cy="438149"/>
          </a:xfrm>
        </p:spPr>
        <p:txBody>
          <a:bodyPr wrap="square"/>
          <a:lstStyle/>
          <a:p>
            <a:pPr algn="l">
              <a:defRPr sz="4400" b="1">
                <a:solidFill>
                  <a:srgbClr val="C0392B"/>
                </a:solidFill>
                <a:latin typeface="Arial"/>
              </a:defRPr>
            </a:pPr>
            <a:r>
              <a:t>Creating a B-Tree Index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670549" y="1695449"/>
            <a:ext cx="5149849" cy="2159000"/>
          </a:xfrm>
        </p:spPr>
        <p:txBody>
          <a:bodyPr/>
          <a:lstStyle/>
          <a:p/>
        </p:txBody>
      </p:sp>
      <p:pic>
        <p:nvPicPr>
          <p:cNvPr id="5" name="Picture 4" descr="dpu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82880"/>
            <a:ext cx="2926080" cy="73152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5670549" y="1695449"/>
            <a:ext cx="5149849" cy="2159000"/>
          </a:xfrm>
          <a:prstGeom prst="roundRect">
            <a:avLst/>
          </a:prstGeom>
          <a:solidFill>
            <a:srgbClr val="1E1E2E"/>
          </a:solidFill>
          <a:ln w="19050">
            <a:solidFill>
              <a:srgbClr val="0021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/>
          <a:lstStyle/>
          <a:p>
            <a:pPr algn="ctr">
              <a:spcAft>
                <a:spcPts val="600"/>
              </a:spcAft>
              <a:defRPr sz="1400">
                <a:solidFill>
                  <a:srgbClr val="60A5FA"/>
                </a:solidFill>
                <a:latin typeface="Consolas"/>
              </a:defRPr>
            </a:pPr>
            <a:r>
              <a:t>// POSTGRESQL 16.6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C678DD"/>
                </a:solidFill>
                <a:latin typeface="Consolas"/>
              </a:rPr>
              <a:t>CREATE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C678DD"/>
                </a:solidFill>
                <a:latin typeface="Consolas"/>
              </a:rPr>
              <a:t>INDEX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F0F4FA"/>
                </a:solidFill>
                <a:latin typeface="Consolas"/>
              </a:rPr>
              <a:t>idx_example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C678DD"/>
                </a:solidFill>
                <a:latin typeface="Consolas"/>
              </a:rPr>
              <a:t>ON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F0F4FA"/>
                </a:solidFill>
                <a:latin typeface="Consolas"/>
              </a:rPr>
              <a:t>table_name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ABB2BF"/>
                </a:solidFill>
                <a:latin typeface="Consolas"/>
              </a:rPr>
              <a:t>(</a:t>
            </a:r>
            <a:r>
              <a:rPr sz="1400">
                <a:solidFill>
                  <a:srgbClr val="F0F4FA"/>
                </a:solidFill>
                <a:latin typeface="Consolas"/>
              </a:rPr>
              <a:t>column1</a:t>
            </a:r>
            <a:r>
              <a:rPr sz="1400">
                <a:solidFill>
                  <a:srgbClr val="ABB2BF"/>
                </a:solidFill>
                <a:latin typeface="Consolas"/>
              </a:rPr>
              <a:t>)</a:t>
            </a:r>
            <a:r>
              <a:rPr sz="1400">
                <a:solidFill>
                  <a:srgbClr val="ABB2BF"/>
                </a:solidFill>
                <a:latin typeface="Consolas"/>
              </a:rPr>
              <a:t>;</a:t>
            </a:r>
          </a:p>
        </p:txBody>
      </p:sp>
      <p:sp>
        <p:nvSpPr>
          <p:cNvPr id="7" name="Footer Placeholder"/>
          <p:cNvSpPr txBox="1"/>
          <p:nvPr/>
        </p:nvSpPr>
        <p:spPr>
          <a:xfrm>
            <a:off x="1371599" y="6223000"/>
            <a:ext cx="8889999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>
                <a:solidFill>
                  <a:srgbClr val="64748B"/>
                </a:solidFill>
                <a:latin typeface="Segoe UI"/>
              </a:defRPr>
            </a:pPr>
            <a:r>
              <a:t>Dr. D. Y. Patil Vidyapeeth, Pune (Deemed to be University)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5" name="Picture 4" descr="DPU_Brand_templ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599" y="1079500"/>
            <a:ext cx="9448799" cy="438149"/>
          </a:xfrm>
        </p:spPr>
        <p:txBody>
          <a:bodyPr wrap="square"/>
          <a:lstStyle/>
          <a:p>
            <a:pPr algn="l">
              <a:defRPr sz="4400" b="1">
                <a:solidFill>
                  <a:srgbClr val="C0392B"/>
                </a:solidFill>
                <a:latin typeface="Arial"/>
              </a:defRPr>
            </a:pPr>
            <a:r>
              <a:t>EXPLAIN Plans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>
          <a:xfrm>
            <a:off x="1371599" y="1695449"/>
            <a:ext cx="4044949" cy="2159000"/>
          </a:xfrm>
        </p:spPr>
        <p:txBody>
          <a:bodyPr wrap="square" anchor="t"/>
          <a:lstStyle/>
          <a:p>
            <a:pPr algn="l">
              <a:spcAft>
                <a:spcPts val="10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Shows how a query is executed</a:t>
            </a:r>
          </a:p>
          <a:p>
            <a:pPr algn="l">
              <a:spcAft>
                <a:spcPts val="10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Helps understand query performance</a:t>
            </a:r>
          </a:p>
          <a:p>
            <a:pPr algn="l">
              <a:spcAft>
                <a:spcPts val="10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EXPLAIN ANALYZE provides more details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>
          <a:xfrm>
            <a:off x="5670549" y="1695449"/>
            <a:ext cx="5149849" cy="2159000"/>
          </a:xfrm>
        </p:spPr>
        <p:txBody>
          <a:bodyPr/>
          <a:lstStyle/>
          <a:p/>
        </p:txBody>
      </p:sp>
      <p:pic>
        <p:nvPicPr>
          <p:cNvPr id="6" name="Picture 5" descr="dpu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82880"/>
            <a:ext cx="2926080" cy="73152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670549" y="1695449"/>
            <a:ext cx="5149849" cy="2159000"/>
          </a:xfrm>
          <a:prstGeom prst="roundRect">
            <a:avLst/>
          </a:prstGeom>
          <a:solidFill>
            <a:srgbClr val="1E1E2E"/>
          </a:solidFill>
          <a:ln w="19050">
            <a:solidFill>
              <a:srgbClr val="0021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/>
          <a:lstStyle/>
          <a:p>
            <a:pPr algn="ctr">
              <a:spcAft>
                <a:spcPts val="600"/>
              </a:spcAft>
              <a:defRPr sz="1400">
                <a:solidFill>
                  <a:srgbClr val="60A5FA"/>
                </a:solidFill>
                <a:latin typeface="Consolas"/>
              </a:defRPr>
            </a:pPr>
            <a:r>
              <a:t>// POSTGRESQL 16.6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788291"/>
                </a:solidFill>
                <a:latin typeface="Consolas"/>
              </a:rPr>
              <a:t>-- Concept: EXPLAIN Plans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C678DD"/>
                </a:solidFill>
                <a:latin typeface="Consolas"/>
              </a:rPr>
              <a:t>CREATE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C678DD"/>
                </a:solidFill>
                <a:latin typeface="Consolas"/>
              </a:rPr>
              <a:t>TEMP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C678DD"/>
                </a:solidFill>
                <a:latin typeface="Consolas"/>
              </a:rPr>
              <a:t>TABLE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F0F4FA"/>
                </a:solidFill>
                <a:latin typeface="Consolas"/>
              </a:rPr>
              <a:t>concept_demo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ABB2BF"/>
                </a:solidFill>
                <a:latin typeface="Consolas"/>
              </a:rPr>
              <a:t>(</a:t>
            </a:r>
            <a:r>
              <a:rPr sz="1400">
                <a:solidFill>
                  <a:srgbClr val="F0F4FA"/>
                </a:solidFill>
                <a:latin typeface="Consolas"/>
              </a:rPr>
              <a:t>id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E5C07B"/>
                </a:solidFill>
                <a:latin typeface="Consolas"/>
              </a:rPr>
              <a:t>SERIAL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C678DD"/>
                </a:solidFill>
                <a:latin typeface="Consolas"/>
              </a:rPr>
              <a:t>PRIMARY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C678DD"/>
                </a:solidFill>
                <a:latin typeface="Consolas"/>
              </a:rPr>
              <a:t>KEY</a:t>
            </a:r>
            <a:r>
              <a:rPr sz="1400">
                <a:solidFill>
                  <a:srgbClr val="ABB2BF"/>
                </a:solidFill>
                <a:latin typeface="Consolas"/>
              </a:rPr>
              <a:t>,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F0F4FA"/>
                </a:solidFill>
                <a:latin typeface="Consolas"/>
              </a:rPr>
              <a:t>na</a:t>
            </a:r>
            <a:r>
              <a:rPr sz="1400">
                <a:solidFill>
                  <a:srgbClr val="D19A66"/>
                </a:solidFill>
                <a:latin typeface="Consolas"/>
              </a:rPr>
              <a:t>.</a:t>
            </a:r>
            <a:r>
              <a:rPr sz="1400">
                <a:solidFill>
                  <a:srgbClr val="D19A66"/>
                </a:solidFill>
                <a:latin typeface="Consolas"/>
              </a:rPr>
              <a:t>.</a:t>
            </a:r>
            <a:r>
              <a:rPr sz="1400">
                <a:solidFill>
                  <a:srgbClr val="D19A66"/>
                </a:solidFill>
                <a:latin typeface="Consolas"/>
              </a:rPr>
              <a:t>.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C678DD"/>
                </a:solidFill>
                <a:latin typeface="Consolas"/>
              </a:rPr>
              <a:t>INSERT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C678DD"/>
                </a:solidFill>
                <a:latin typeface="Consolas"/>
              </a:rPr>
              <a:t>INTO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F0F4FA"/>
                </a:solidFill>
                <a:latin typeface="Consolas"/>
              </a:rPr>
              <a:t>concept_demo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ABB2BF"/>
                </a:solidFill>
                <a:latin typeface="Consolas"/>
              </a:rPr>
              <a:t>(</a:t>
            </a:r>
            <a:r>
              <a:rPr sz="1400">
                <a:solidFill>
                  <a:srgbClr val="C678DD"/>
                </a:solidFill>
                <a:latin typeface="Consolas"/>
              </a:rPr>
              <a:t>name</a:t>
            </a:r>
            <a:r>
              <a:rPr sz="1400">
                <a:solidFill>
                  <a:srgbClr val="ABB2BF"/>
                </a:solidFill>
                <a:latin typeface="Consolas"/>
              </a:rPr>
              <a:t>)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C678DD"/>
                </a:solidFill>
                <a:latin typeface="Consolas"/>
              </a:rPr>
              <a:t>VALUES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ABB2BF"/>
                </a:solidFill>
                <a:latin typeface="Consolas"/>
              </a:rPr>
              <a:t>(</a:t>
            </a:r>
            <a:r>
              <a:rPr sz="1400">
                <a:solidFill>
                  <a:srgbClr val="98C379"/>
                </a:solidFill>
                <a:latin typeface="Consolas"/>
              </a:rPr>
              <a:t>'</a:t>
            </a:r>
            <a:r>
              <a:rPr sz="1400">
                <a:solidFill>
                  <a:srgbClr val="98C379"/>
                </a:solidFill>
                <a:latin typeface="Consolas"/>
              </a:rPr>
              <a:t>Alpha</a:t>
            </a:r>
            <a:r>
              <a:rPr sz="1400">
                <a:solidFill>
                  <a:srgbClr val="98C379"/>
                </a:solidFill>
                <a:latin typeface="Consolas"/>
              </a:rPr>
              <a:t>'</a:t>
            </a:r>
            <a:r>
              <a:rPr sz="1400">
                <a:solidFill>
                  <a:srgbClr val="ABB2BF"/>
                </a:solidFill>
                <a:latin typeface="Consolas"/>
              </a:rPr>
              <a:t>)</a:t>
            </a:r>
            <a:r>
              <a:rPr sz="1400">
                <a:solidFill>
                  <a:srgbClr val="ABB2BF"/>
                </a:solidFill>
                <a:latin typeface="Consolas"/>
              </a:rPr>
              <a:t>,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ABB2BF"/>
                </a:solidFill>
                <a:latin typeface="Consolas"/>
              </a:rPr>
              <a:t>(</a:t>
            </a:r>
            <a:r>
              <a:rPr sz="1400">
                <a:solidFill>
                  <a:srgbClr val="98C379"/>
                </a:solidFill>
                <a:latin typeface="Consolas"/>
              </a:rPr>
              <a:t>'</a:t>
            </a:r>
            <a:r>
              <a:rPr sz="1400">
                <a:solidFill>
                  <a:srgbClr val="98C379"/>
                </a:solidFill>
                <a:latin typeface="Consolas"/>
              </a:rPr>
              <a:t>Beta</a:t>
            </a:r>
            <a:r>
              <a:rPr sz="1400">
                <a:solidFill>
                  <a:srgbClr val="98C379"/>
                </a:solidFill>
                <a:latin typeface="Consolas"/>
              </a:rPr>
              <a:t>'</a:t>
            </a:r>
            <a:r>
              <a:rPr sz="1400">
                <a:solidFill>
                  <a:srgbClr val="ABB2BF"/>
                </a:solidFill>
                <a:latin typeface="Consolas"/>
              </a:rPr>
              <a:t>)</a:t>
            </a:r>
            <a:r>
              <a:rPr sz="1400">
                <a:solidFill>
                  <a:srgbClr val="ABB2BF"/>
                </a:solidFill>
                <a:latin typeface="Consolas"/>
              </a:rPr>
              <a:t>;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C678DD"/>
                </a:solidFill>
                <a:latin typeface="Consolas"/>
              </a:rPr>
              <a:t>SELECT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F0F4FA"/>
                </a:solidFill>
                <a:latin typeface="Consolas"/>
              </a:rPr>
              <a:t>id</a:t>
            </a:r>
            <a:r>
              <a:rPr sz="1400">
                <a:solidFill>
                  <a:srgbClr val="ABB2BF"/>
                </a:solidFill>
                <a:latin typeface="Consolas"/>
              </a:rPr>
              <a:t>,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C678DD"/>
                </a:solidFill>
                <a:latin typeface="Consolas"/>
              </a:rPr>
              <a:t>name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C678DD"/>
                </a:solidFill>
                <a:latin typeface="Consolas"/>
              </a:rPr>
              <a:t>FROM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F0F4FA"/>
                </a:solidFill>
                <a:latin typeface="Consolas"/>
              </a:rPr>
              <a:t>concept_demo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C678DD"/>
                </a:solidFill>
                <a:latin typeface="Consolas"/>
              </a:rPr>
              <a:t>ORDER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C678DD"/>
                </a:solidFill>
                <a:latin typeface="Consolas"/>
              </a:rPr>
              <a:t>BY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F0F4FA"/>
                </a:solidFill>
                <a:latin typeface="Consolas"/>
              </a:rPr>
              <a:t>id</a:t>
            </a:r>
            <a:r>
              <a:rPr sz="1400">
                <a:solidFill>
                  <a:srgbClr val="ABB2BF"/>
                </a:solidFill>
                <a:latin typeface="Consolas"/>
              </a:rPr>
              <a:t>;</a:t>
            </a:r>
          </a:p>
        </p:txBody>
      </p:sp>
      <p:sp>
        <p:nvSpPr>
          <p:cNvPr id="8" name="Footer Placeholder"/>
          <p:cNvSpPr txBox="1"/>
          <p:nvPr/>
        </p:nvSpPr>
        <p:spPr>
          <a:xfrm>
            <a:off x="1371599" y="6223000"/>
            <a:ext cx="8889999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>
                <a:solidFill>
                  <a:srgbClr val="64748B"/>
                </a:solidFill>
                <a:latin typeface="Segoe UI"/>
              </a:defRPr>
            </a:pPr>
            <a:r>
              <a:t>Dr. D. Y. Patil Vidyapeeth, Pune (Deemed to be University)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5" name="Picture 4" descr="DPU_Brand_templ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599" y="1079500"/>
            <a:ext cx="9448799" cy="438149"/>
          </a:xfrm>
        </p:spPr>
        <p:txBody>
          <a:bodyPr wrap="square"/>
          <a:lstStyle/>
          <a:p>
            <a:pPr algn="l">
              <a:defRPr sz="4400" b="1">
                <a:solidFill>
                  <a:srgbClr val="C0392B"/>
                </a:solidFill>
                <a:latin typeface="Arial"/>
              </a:defRPr>
            </a:pPr>
            <a:r>
              <a:t>Understanding EXPLAIN Output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>
          <a:xfrm>
            <a:off x="1371599" y="1695449"/>
            <a:ext cx="4044949" cy="2159000"/>
          </a:xfrm>
        </p:spPr>
        <p:txBody>
          <a:bodyPr wrap="square" anchor="t"/>
          <a:lstStyle/>
          <a:p>
            <a:pPr algn="l">
              <a:spcAft>
                <a:spcPts val="10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Cost: estimated cost of execution</a:t>
            </a:r>
          </a:p>
          <a:p>
            <a:pPr algn="l">
              <a:spcAft>
                <a:spcPts val="10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Plan: type of query execution</a:t>
            </a:r>
          </a:p>
          <a:p>
            <a:pPr algn="l">
              <a:spcAft>
                <a:spcPts val="10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Rows: number of rows expected to be returned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>
          <a:xfrm>
            <a:off x="5670549" y="1695449"/>
            <a:ext cx="5149849" cy="2159000"/>
          </a:xfrm>
        </p:spPr>
        <p:txBody>
          <a:bodyPr/>
          <a:lstStyle/>
          <a:p/>
        </p:txBody>
      </p:sp>
      <p:pic>
        <p:nvPicPr>
          <p:cNvPr id="6" name="Picture 5" descr="dpu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82880"/>
            <a:ext cx="2926080" cy="73152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670549" y="1695449"/>
            <a:ext cx="5149849" cy="2159000"/>
          </a:xfrm>
          <a:prstGeom prst="roundRect">
            <a:avLst/>
          </a:prstGeom>
          <a:solidFill>
            <a:srgbClr val="1E1E2E"/>
          </a:solidFill>
          <a:ln w="19050">
            <a:solidFill>
              <a:srgbClr val="0021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/>
          <a:lstStyle/>
          <a:p>
            <a:pPr algn="ctr">
              <a:spcAft>
                <a:spcPts val="600"/>
              </a:spcAft>
              <a:defRPr sz="1400">
                <a:solidFill>
                  <a:srgbClr val="60A5FA"/>
                </a:solidFill>
                <a:latin typeface="Consolas"/>
              </a:defRPr>
            </a:pPr>
            <a:r>
              <a:t>// POSTGRESQL 16.6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788291"/>
                </a:solidFill>
                <a:latin typeface="Consolas"/>
              </a:rPr>
              <a:t>-- Concept: Understanding EXPLAIN Output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C678DD"/>
                </a:solidFill>
                <a:latin typeface="Consolas"/>
              </a:rPr>
              <a:t>CREATE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C678DD"/>
                </a:solidFill>
                <a:latin typeface="Consolas"/>
              </a:rPr>
              <a:t>TEMP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C678DD"/>
                </a:solidFill>
                <a:latin typeface="Consolas"/>
              </a:rPr>
              <a:t>TABLE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F0F4FA"/>
                </a:solidFill>
                <a:latin typeface="Consolas"/>
              </a:rPr>
              <a:t>concept_demo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ABB2BF"/>
                </a:solidFill>
                <a:latin typeface="Consolas"/>
              </a:rPr>
              <a:t>(</a:t>
            </a:r>
            <a:r>
              <a:rPr sz="1400">
                <a:solidFill>
                  <a:srgbClr val="F0F4FA"/>
                </a:solidFill>
                <a:latin typeface="Consolas"/>
              </a:rPr>
              <a:t>id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E5C07B"/>
                </a:solidFill>
                <a:latin typeface="Consolas"/>
              </a:rPr>
              <a:t>SERIAL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C678DD"/>
                </a:solidFill>
                <a:latin typeface="Consolas"/>
              </a:rPr>
              <a:t>PRIMARY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C678DD"/>
                </a:solidFill>
                <a:latin typeface="Consolas"/>
              </a:rPr>
              <a:t>KEY</a:t>
            </a:r>
            <a:r>
              <a:rPr sz="1400">
                <a:solidFill>
                  <a:srgbClr val="ABB2BF"/>
                </a:solidFill>
                <a:latin typeface="Consolas"/>
              </a:rPr>
              <a:t>,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F0F4FA"/>
                </a:solidFill>
                <a:latin typeface="Consolas"/>
              </a:rPr>
              <a:t>na</a:t>
            </a:r>
            <a:r>
              <a:rPr sz="1400">
                <a:solidFill>
                  <a:srgbClr val="D19A66"/>
                </a:solidFill>
                <a:latin typeface="Consolas"/>
              </a:rPr>
              <a:t>.</a:t>
            </a:r>
            <a:r>
              <a:rPr sz="1400">
                <a:solidFill>
                  <a:srgbClr val="D19A66"/>
                </a:solidFill>
                <a:latin typeface="Consolas"/>
              </a:rPr>
              <a:t>.</a:t>
            </a:r>
            <a:r>
              <a:rPr sz="1400">
                <a:solidFill>
                  <a:srgbClr val="D19A66"/>
                </a:solidFill>
                <a:latin typeface="Consolas"/>
              </a:rPr>
              <a:t>.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C678DD"/>
                </a:solidFill>
                <a:latin typeface="Consolas"/>
              </a:rPr>
              <a:t>INSERT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C678DD"/>
                </a:solidFill>
                <a:latin typeface="Consolas"/>
              </a:rPr>
              <a:t>INTO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F0F4FA"/>
                </a:solidFill>
                <a:latin typeface="Consolas"/>
              </a:rPr>
              <a:t>concept_demo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ABB2BF"/>
                </a:solidFill>
                <a:latin typeface="Consolas"/>
              </a:rPr>
              <a:t>(</a:t>
            </a:r>
            <a:r>
              <a:rPr sz="1400">
                <a:solidFill>
                  <a:srgbClr val="C678DD"/>
                </a:solidFill>
                <a:latin typeface="Consolas"/>
              </a:rPr>
              <a:t>name</a:t>
            </a:r>
            <a:r>
              <a:rPr sz="1400">
                <a:solidFill>
                  <a:srgbClr val="ABB2BF"/>
                </a:solidFill>
                <a:latin typeface="Consolas"/>
              </a:rPr>
              <a:t>)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C678DD"/>
                </a:solidFill>
                <a:latin typeface="Consolas"/>
              </a:rPr>
              <a:t>VALUES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ABB2BF"/>
                </a:solidFill>
                <a:latin typeface="Consolas"/>
              </a:rPr>
              <a:t>(</a:t>
            </a:r>
            <a:r>
              <a:rPr sz="1400">
                <a:solidFill>
                  <a:srgbClr val="98C379"/>
                </a:solidFill>
                <a:latin typeface="Consolas"/>
              </a:rPr>
              <a:t>'</a:t>
            </a:r>
            <a:r>
              <a:rPr sz="1400">
                <a:solidFill>
                  <a:srgbClr val="98C379"/>
                </a:solidFill>
                <a:latin typeface="Consolas"/>
              </a:rPr>
              <a:t>Alpha</a:t>
            </a:r>
            <a:r>
              <a:rPr sz="1400">
                <a:solidFill>
                  <a:srgbClr val="98C379"/>
                </a:solidFill>
                <a:latin typeface="Consolas"/>
              </a:rPr>
              <a:t>'</a:t>
            </a:r>
            <a:r>
              <a:rPr sz="1400">
                <a:solidFill>
                  <a:srgbClr val="ABB2BF"/>
                </a:solidFill>
                <a:latin typeface="Consolas"/>
              </a:rPr>
              <a:t>)</a:t>
            </a:r>
            <a:r>
              <a:rPr sz="1400">
                <a:solidFill>
                  <a:srgbClr val="ABB2BF"/>
                </a:solidFill>
                <a:latin typeface="Consolas"/>
              </a:rPr>
              <a:t>,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ABB2BF"/>
                </a:solidFill>
                <a:latin typeface="Consolas"/>
              </a:rPr>
              <a:t>(</a:t>
            </a:r>
            <a:r>
              <a:rPr sz="1400">
                <a:solidFill>
                  <a:srgbClr val="98C379"/>
                </a:solidFill>
                <a:latin typeface="Consolas"/>
              </a:rPr>
              <a:t>'</a:t>
            </a:r>
            <a:r>
              <a:rPr sz="1400">
                <a:solidFill>
                  <a:srgbClr val="98C379"/>
                </a:solidFill>
                <a:latin typeface="Consolas"/>
              </a:rPr>
              <a:t>Beta</a:t>
            </a:r>
            <a:r>
              <a:rPr sz="1400">
                <a:solidFill>
                  <a:srgbClr val="98C379"/>
                </a:solidFill>
                <a:latin typeface="Consolas"/>
              </a:rPr>
              <a:t>'</a:t>
            </a:r>
            <a:r>
              <a:rPr sz="1400">
                <a:solidFill>
                  <a:srgbClr val="ABB2BF"/>
                </a:solidFill>
                <a:latin typeface="Consolas"/>
              </a:rPr>
              <a:t>)</a:t>
            </a:r>
            <a:r>
              <a:rPr sz="1400">
                <a:solidFill>
                  <a:srgbClr val="ABB2BF"/>
                </a:solidFill>
                <a:latin typeface="Consolas"/>
              </a:rPr>
              <a:t>;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C678DD"/>
                </a:solidFill>
                <a:latin typeface="Consolas"/>
              </a:rPr>
              <a:t>SELECT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F0F4FA"/>
                </a:solidFill>
                <a:latin typeface="Consolas"/>
              </a:rPr>
              <a:t>id</a:t>
            </a:r>
            <a:r>
              <a:rPr sz="1400">
                <a:solidFill>
                  <a:srgbClr val="ABB2BF"/>
                </a:solidFill>
                <a:latin typeface="Consolas"/>
              </a:rPr>
              <a:t>,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C678DD"/>
                </a:solidFill>
                <a:latin typeface="Consolas"/>
              </a:rPr>
              <a:t>name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C678DD"/>
                </a:solidFill>
                <a:latin typeface="Consolas"/>
              </a:rPr>
              <a:t>FROM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F0F4FA"/>
                </a:solidFill>
                <a:latin typeface="Consolas"/>
              </a:rPr>
              <a:t>concept_demo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C678DD"/>
                </a:solidFill>
                <a:latin typeface="Consolas"/>
              </a:rPr>
              <a:t>ORDER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C678DD"/>
                </a:solidFill>
                <a:latin typeface="Consolas"/>
              </a:rPr>
              <a:t>BY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F0F4FA"/>
                </a:solidFill>
                <a:latin typeface="Consolas"/>
              </a:rPr>
              <a:t>id</a:t>
            </a:r>
            <a:r>
              <a:rPr sz="1400">
                <a:solidFill>
                  <a:srgbClr val="ABB2BF"/>
                </a:solidFill>
                <a:latin typeface="Consolas"/>
              </a:rPr>
              <a:t>;</a:t>
            </a:r>
          </a:p>
        </p:txBody>
      </p:sp>
      <p:sp>
        <p:nvSpPr>
          <p:cNvPr id="8" name="Footer Placeholder"/>
          <p:cNvSpPr txBox="1"/>
          <p:nvPr/>
        </p:nvSpPr>
        <p:spPr>
          <a:xfrm>
            <a:off x="1371599" y="6223000"/>
            <a:ext cx="8889999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>
                <a:solidFill>
                  <a:srgbClr val="64748B"/>
                </a:solidFill>
                <a:latin typeface="Segoe UI"/>
              </a:defRPr>
            </a:pPr>
            <a:r>
              <a:t>Dr. D. Y. Patil Vidyapeeth, Pune (Deemed to be University)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4" name="Picture 3" descr="DPU_Brand_templ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599" y="1079500"/>
            <a:ext cx="9448799" cy="438149"/>
          </a:xfrm>
        </p:spPr>
        <p:txBody>
          <a:bodyPr wrap="square"/>
          <a:lstStyle/>
          <a:p>
            <a:pPr algn="l">
              <a:defRPr sz="4400" b="1">
                <a:solidFill>
                  <a:srgbClr val="C0392B"/>
                </a:solidFill>
                <a:latin typeface="Arial"/>
              </a:defRPr>
            </a:pPr>
            <a:r>
              <a:t>Exercise: Analyzing Query Performance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670549" y="1695449"/>
            <a:ext cx="5149849" cy="2159000"/>
          </a:xfrm>
        </p:spPr>
        <p:txBody>
          <a:bodyPr/>
          <a:lstStyle/>
          <a:p/>
        </p:txBody>
      </p:sp>
      <p:pic>
        <p:nvPicPr>
          <p:cNvPr id="5" name="Picture 4" descr="dpu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82880"/>
            <a:ext cx="2926080" cy="73152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5670549" y="1695449"/>
            <a:ext cx="5149849" cy="2159000"/>
          </a:xfrm>
          <a:prstGeom prst="roundRect">
            <a:avLst/>
          </a:prstGeom>
          <a:solidFill>
            <a:srgbClr val="1E1E2E"/>
          </a:solidFill>
          <a:ln w="19050">
            <a:solidFill>
              <a:srgbClr val="0021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/>
          <a:lstStyle/>
          <a:p>
            <a:pPr algn="ctr">
              <a:spcAft>
                <a:spcPts val="600"/>
              </a:spcAft>
              <a:defRPr sz="1400">
                <a:solidFill>
                  <a:srgbClr val="60A5FA"/>
                </a:solidFill>
                <a:latin typeface="Consolas"/>
              </a:defRPr>
            </a:pPr>
            <a:r>
              <a:t>// POSTGRESQL 16.6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C678DD"/>
                </a:solidFill>
                <a:latin typeface="Consolas"/>
              </a:rPr>
              <a:t>EXPLAIN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C678DD"/>
                </a:solidFill>
                <a:latin typeface="Consolas"/>
              </a:rPr>
              <a:t>SELECT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56B6C2"/>
                </a:solidFill>
                <a:latin typeface="Consolas"/>
              </a:rPr>
              <a:t>*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C678DD"/>
                </a:solidFill>
                <a:latin typeface="Consolas"/>
              </a:rPr>
              <a:t>FROM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F0F4FA"/>
                </a:solidFill>
                <a:latin typeface="Consolas"/>
              </a:rPr>
              <a:t>table_name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C678DD"/>
                </a:solidFill>
                <a:latin typeface="Consolas"/>
              </a:rPr>
              <a:t>WHERE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F0F4FA"/>
                </a:solidFill>
                <a:latin typeface="Consolas"/>
              </a:rPr>
              <a:t>column1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56B6C2"/>
                </a:solidFill>
                <a:latin typeface="Consolas"/>
              </a:rPr>
              <a:t>=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98C379"/>
                </a:solidFill>
                <a:latin typeface="Consolas"/>
              </a:rPr>
              <a:t>'</a:t>
            </a:r>
            <a:r>
              <a:rPr sz="1400">
                <a:solidFill>
                  <a:srgbClr val="98C379"/>
                </a:solidFill>
                <a:latin typeface="Consolas"/>
              </a:rPr>
              <a:t>value</a:t>
            </a:r>
            <a:r>
              <a:rPr sz="1400">
                <a:solidFill>
                  <a:srgbClr val="98C379"/>
                </a:solidFill>
                <a:latin typeface="Consolas"/>
              </a:rPr>
              <a:t>'</a:t>
            </a:r>
            <a:r>
              <a:rPr sz="1400">
                <a:solidFill>
                  <a:srgbClr val="ABB2BF"/>
                </a:solidFill>
                <a:latin typeface="Consolas"/>
              </a:rPr>
              <a:t>;</a:t>
            </a:r>
          </a:p>
        </p:txBody>
      </p:sp>
      <p:sp>
        <p:nvSpPr>
          <p:cNvPr id="7" name="Footer Placeholder"/>
          <p:cNvSpPr txBox="1"/>
          <p:nvPr/>
        </p:nvSpPr>
        <p:spPr>
          <a:xfrm>
            <a:off x="1371599" y="6223000"/>
            <a:ext cx="8889999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>
                <a:solidFill>
                  <a:srgbClr val="64748B"/>
                </a:solidFill>
                <a:latin typeface="Segoe UI"/>
              </a:defRPr>
            </a:pPr>
            <a:r>
              <a:t>Dr. D. Y. Patil Vidyapeeth, Pune (Deemed to be University)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4" name="Picture 3" descr="DPU_Brand_templ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599" y="1079500"/>
            <a:ext cx="9448799" cy="438149"/>
          </a:xfrm>
        </p:spPr>
        <p:txBody>
          <a:bodyPr wrap="square"/>
          <a:lstStyle/>
          <a:p>
            <a:pPr algn="l">
              <a:defRPr sz="4400" b="1">
                <a:solidFill>
                  <a:srgbClr val="C0392B"/>
                </a:solidFill>
                <a:latin typeface="Arial"/>
              </a:defRPr>
            </a:pPr>
            <a:r>
              <a:t>PostgreSQL 16 Advanced Indexing &amp; EXPLAIN Plans: Part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62099" y="1758949"/>
            <a:ext cx="9067799" cy="889000"/>
          </a:xfrm>
        </p:spPr>
        <p:txBody>
          <a:bodyPr wrap="square" anchor="t"/>
          <a:lstStyle/>
          <a:p>
            <a:pPr algn="l">
              <a:spcAft>
                <a:spcPts val="10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Indexes speed up SELECT queries</a:t>
            </a:r>
          </a:p>
          <a:p>
            <a:pPr algn="l">
              <a:spcAft>
                <a:spcPts val="10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Create indexes on frequently queried columns</a:t>
            </a:r>
          </a:p>
          <a:p>
            <a:pPr algn="l">
              <a:spcAft>
                <a:spcPts val="10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EXPLAIN helps understand query performance</a:t>
            </a:r>
          </a:p>
        </p:txBody>
      </p:sp>
      <p:pic>
        <p:nvPicPr>
          <p:cNvPr id="5" name="Picture 4" descr="dpu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82880"/>
            <a:ext cx="2926080" cy="731520"/>
          </a:xfrm>
          <a:prstGeom prst="rect">
            <a:avLst/>
          </a:prstGeom>
        </p:spPr>
      </p:pic>
      <p:sp>
        <p:nvSpPr>
          <p:cNvPr id="6" name="Footer Placeholder"/>
          <p:cNvSpPr txBox="1"/>
          <p:nvPr/>
        </p:nvSpPr>
        <p:spPr>
          <a:xfrm>
            <a:off x="1371599" y="6223000"/>
            <a:ext cx="8889999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>
                <a:solidFill>
                  <a:srgbClr val="64748B"/>
                </a:solidFill>
                <a:latin typeface="Segoe UI"/>
              </a:defRPr>
            </a:pPr>
            <a:r>
              <a:t>Dr. D. Y. Patil Vidyapeeth, Pune (Deemed to be University)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4" name="Picture 3" descr="DPU_Brand_templ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599" y="1079500"/>
            <a:ext cx="9448799" cy="438149"/>
          </a:xfrm>
        </p:spPr>
        <p:txBody>
          <a:bodyPr wrap="square"/>
          <a:lstStyle/>
          <a:p>
            <a:pPr algn="l">
              <a:defRPr sz="4400" b="1">
                <a:solidFill>
                  <a:srgbClr val="C0392B"/>
                </a:solidFill>
                <a:latin typeface="Arial"/>
              </a:defRPr>
            </a:pPr>
            <a:r>
              <a:t>Thank You and Q&amp;A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62099" y="1758949"/>
            <a:ext cx="9067799" cy="889000"/>
          </a:xfrm>
        </p:spPr>
        <p:txBody>
          <a:bodyPr wrap="square" anchor="t"/>
          <a:lstStyle/>
          <a:p>
            <a:pPr algn="l">
              <a:spcAft>
                <a:spcPts val="10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Thank you for attending</a:t>
            </a:r>
          </a:p>
          <a:p>
            <a:pPr algn="l">
              <a:spcAft>
                <a:spcPts val="10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Open for questions</a:t>
            </a:r>
          </a:p>
          <a:p>
            <a:pPr algn="l">
              <a:spcAft>
                <a:spcPts val="10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References provided</a:t>
            </a:r>
          </a:p>
        </p:txBody>
      </p:sp>
      <p:pic>
        <p:nvPicPr>
          <p:cNvPr id="5" name="Picture 4" descr="dpu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82880"/>
            <a:ext cx="2926080" cy="731520"/>
          </a:xfrm>
          <a:prstGeom prst="rect">
            <a:avLst/>
          </a:prstGeom>
        </p:spPr>
      </p:pic>
      <p:sp>
        <p:nvSpPr>
          <p:cNvPr id="6" name="Footer Placeholder"/>
          <p:cNvSpPr txBox="1"/>
          <p:nvPr/>
        </p:nvSpPr>
        <p:spPr>
          <a:xfrm>
            <a:off x="1371599" y="6223000"/>
            <a:ext cx="8889999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>
                <a:solidFill>
                  <a:srgbClr val="64748B"/>
                </a:solidFill>
                <a:latin typeface="Segoe UI"/>
              </a:defRPr>
            </a:pPr>
            <a:r>
              <a:t>Dr. D. Y. Patil Vidyapeeth, Pune (Deemed to be University)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