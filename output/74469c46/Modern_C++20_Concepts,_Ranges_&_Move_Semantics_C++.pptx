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Modern C++20 Concepts, Ranges &amp; Move Semantics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sam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C++ 20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Concepts Overview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Ranges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Move Semantics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Concepts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Concepts simplify code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std::vector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C++ 20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template</a:t>
            </a:r>
            <a:r>
              <a:rPr sz="1700">
                <a:solidFill>
                  <a:srgbClr val="56B6C2"/>
                </a:solidFill>
                <a:latin typeface="Consolas"/>
              </a:rPr>
              <a:t>&lt;</a:t>
            </a:r>
            <a:r>
              <a:rPr sz="1700">
                <a:solidFill>
                  <a:srgbClr val="C678DD"/>
                </a:solidFill>
                <a:latin typeface="Consolas"/>
              </a:rPr>
              <a:t>typename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E5C07B"/>
                </a:solidFill>
                <a:latin typeface="Consolas"/>
              </a:rPr>
              <a:t>T</a:t>
            </a:r>
            <a:r>
              <a:rPr sz="1700">
                <a:solidFill>
                  <a:srgbClr val="56B6C2"/>
                </a:solidFill>
                <a:latin typeface="Consolas"/>
              </a:rPr>
              <a:t>&gt;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concept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E5C07B"/>
                </a:solidFill>
                <a:latin typeface="Consolas"/>
              </a:rPr>
              <a:t>VectorConcept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=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requires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F0F4FA"/>
                </a:solidFill>
                <a:latin typeface="Consolas"/>
              </a:rPr>
              <a:t>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v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{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v</a:t>
            </a:r>
            <a:r>
              <a:rPr sz="1700">
                <a:solidFill>
                  <a:srgbClr val="ABB2BF"/>
                </a:solidFill>
                <a:latin typeface="Consolas"/>
              </a:rPr>
              <a:t>.</a:t>
            </a:r>
            <a:r>
              <a:rPr sz="1700">
                <a:solidFill>
                  <a:srgbClr val="F0F4FA"/>
                </a:solidFill>
                <a:latin typeface="Consolas"/>
              </a:rPr>
              <a:t>size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Code Example: Vector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Code Example: Vector Concept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Concepts enable type safety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std::vector&lt;int&gt; v;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C++ 20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template</a:t>
            </a:r>
            <a:r>
              <a:rPr sz="1700">
                <a:solidFill>
                  <a:srgbClr val="56B6C2"/>
                </a:solidFill>
                <a:latin typeface="Consolas"/>
              </a:rPr>
              <a:t>&lt;</a:t>
            </a:r>
            <a:r>
              <a:rPr sz="1700">
                <a:solidFill>
                  <a:srgbClr val="C678DD"/>
                </a:solidFill>
                <a:latin typeface="Consolas"/>
              </a:rPr>
              <a:t>typename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E5C07B"/>
                </a:solidFill>
                <a:latin typeface="Consolas"/>
              </a:rPr>
              <a:t>T</a:t>
            </a:r>
            <a:r>
              <a:rPr sz="1700">
                <a:solidFill>
                  <a:srgbClr val="56B6C2"/>
                </a:solidFill>
                <a:latin typeface="Consolas"/>
              </a:rPr>
              <a:t>&gt;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concept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E5C07B"/>
                </a:solidFill>
                <a:latin typeface="Consolas"/>
              </a:rPr>
              <a:t>VectorConcept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=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requires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F0F4FA"/>
                </a:solidFill>
                <a:latin typeface="Consolas"/>
              </a:rPr>
              <a:t>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v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{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v</a:t>
            </a:r>
            <a:r>
              <a:rPr sz="1700">
                <a:solidFill>
                  <a:srgbClr val="ABB2BF"/>
                </a:solidFill>
                <a:latin typeface="Consolas"/>
              </a:rPr>
              <a:t>.</a:t>
            </a:r>
            <a:r>
              <a:rPr sz="1700">
                <a:solidFill>
                  <a:srgbClr val="F0F4FA"/>
                </a:solidFill>
                <a:latin typeface="Consolas"/>
              </a:rPr>
              <a:t>size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Ranges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Ranges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Iterate over collections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std::ranges::for_each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C++ 20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void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61AFEF"/>
                </a:solidFill>
                <a:latin typeface="Consolas"/>
              </a:rPr>
              <a:t>range_example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{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std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F0F4FA"/>
                </a:solidFill>
                <a:latin typeface="Consolas"/>
              </a:rPr>
              <a:t>vector</a:t>
            </a:r>
            <a:r>
              <a:rPr sz="1700">
                <a:solidFill>
                  <a:srgbClr val="56B6C2"/>
                </a:solidFill>
                <a:latin typeface="Consolas"/>
              </a:rPr>
              <a:t>&lt;</a:t>
            </a:r>
            <a:r>
              <a:rPr sz="1700">
                <a:solidFill>
                  <a:srgbClr val="C678DD"/>
                </a:solidFill>
                <a:latin typeface="Consolas"/>
              </a:rPr>
              <a:t>int</a:t>
            </a:r>
            <a:r>
              <a:rPr sz="1700">
                <a:solidFill>
                  <a:srgbClr val="56B6C2"/>
                </a:solidFill>
                <a:latin typeface="Consolas"/>
              </a:rPr>
              <a:t>&gt;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v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=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{</a:t>
            </a:r>
            <a:r>
              <a:rPr sz="1700">
                <a:solidFill>
                  <a:srgbClr val="D19A66"/>
                </a:solidFill>
                <a:latin typeface="Consolas"/>
              </a:rPr>
              <a:t>1</a:t>
            </a:r>
            <a:r>
              <a:rPr sz="1700">
                <a:solidFill>
                  <a:srgbClr val="ABB2BF"/>
                </a:solidFill>
                <a:latin typeface="Consolas"/>
              </a:rPr>
              <a:t>,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D19A66"/>
                </a:solidFill>
                <a:latin typeface="Consolas"/>
              </a:rPr>
              <a:t>2</a:t>
            </a:r>
            <a:r>
              <a:rPr sz="1700">
                <a:solidFill>
                  <a:srgbClr val="ABB2BF"/>
                </a:solidFill>
                <a:latin typeface="Consolas"/>
              </a:rPr>
              <a:t>,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D19A66"/>
                </a:solidFill>
                <a:latin typeface="Consolas"/>
              </a:rPr>
              <a:t>3</a:t>
            </a:r>
            <a:r>
              <a:rPr sz="1700">
                <a:solidFill>
                  <a:srgbClr val="ABB2BF"/>
                </a:solidFill>
                <a:latin typeface="Consolas"/>
              </a:rPr>
              <a:t>}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std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F0F4FA"/>
                </a:solidFill>
                <a:latin typeface="Consolas"/>
              </a:rPr>
              <a:t>ranges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F0F4FA"/>
                </a:solidFill>
                <a:latin typeface="Consolas"/>
              </a:rPr>
              <a:t>fo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Code Example: Ranges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Code Example: Ranges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Iterate over a vector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std::ranges::for_each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C++ 20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void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61AFEF"/>
                </a:solidFill>
                <a:latin typeface="Consolas"/>
              </a:rPr>
              <a:t>range_example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{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std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F0F4FA"/>
                </a:solidFill>
                <a:latin typeface="Consolas"/>
              </a:rPr>
              <a:t>vector</a:t>
            </a:r>
            <a:r>
              <a:rPr sz="1700">
                <a:solidFill>
                  <a:srgbClr val="56B6C2"/>
                </a:solidFill>
                <a:latin typeface="Consolas"/>
              </a:rPr>
              <a:t>&lt;</a:t>
            </a:r>
            <a:r>
              <a:rPr sz="1700">
                <a:solidFill>
                  <a:srgbClr val="C678DD"/>
                </a:solidFill>
                <a:latin typeface="Consolas"/>
              </a:rPr>
              <a:t>int</a:t>
            </a:r>
            <a:r>
              <a:rPr sz="1700">
                <a:solidFill>
                  <a:srgbClr val="56B6C2"/>
                </a:solidFill>
                <a:latin typeface="Consolas"/>
              </a:rPr>
              <a:t>&gt;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v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=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{</a:t>
            </a:r>
            <a:r>
              <a:rPr sz="1700">
                <a:solidFill>
                  <a:srgbClr val="D19A66"/>
                </a:solidFill>
                <a:latin typeface="Consolas"/>
              </a:rPr>
              <a:t>1</a:t>
            </a:r>
            <a:r>
              <a:rPr sz="1700">
                <a:solidFill>
                  <a:srgbClr val="ABB2BF"/>
                </a:solidFill>
                <a:latin typeface="Consolas"/>
              </a:rPr>
              <a:t>,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D19A66"/>
                </a:solidFill>
                <a:latin typeface="Consolas"/>
              </a:rPr>
              <a:t>2</a:t>
            </a:r>
            <a:r>
              <a:rPr sz="1700">
                <a:solidFill>
                  <a:srgbClr val="ABB2BF"/>
                </a:solidFill>
                <a:latin typeface="Consolas"/>
              </a:rPr>
              <a:t>,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D19A66"/>
                </a:solidFill>
                <a:latin typeface="Consolas"/>
              </a:rPr>
              <a:t>3</a:t>
            </a:r>
            <a:r>
              <a:rPr sz="1700">
                <a:solidFill>
                  <a:srgbClr val="ABB2BF"/>
                </a:solidFill>
                <a:latin typeface="Consolas"/>
              </a:rPr>
              <a:t>}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std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F0F4FA"/>
                </a:solidFill>
                <a:latin typeface="Consolas"/>
              </a:rPr>
              <a:t>ranges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F0F4FA"/>
                </a:solidFill>
                <a:latin typeface="Consolas"/>
              </a:rPr>
              <a:t>fo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Move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Move Semantics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Efficient data transfer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std::move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C++ 20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void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61AFEF"/>
                </a:solidFill>
                <a:latin typeface="Consolas"/>
              </a:rPr>
              <a:t>move_example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{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int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x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=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D19A66"/>
                </a:solidFill>
                <a:latin typeface="Consolas"/>
              </a:rPr>
              <a:t>5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int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y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=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std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F0F4FA"/>
                </a:solidFill>
                <a:latin typeface="Consolas"/>
              </a:rPr>
              <a:t>move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F0F4FA"/>
                </a:solidFill>
                <a:latin typeface="Consolas"/>
              </a:rPr>
              <a:t>x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std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F0F4FA"/>
                </a:solidFill>
                <a:latin typeface="Consolas"/>
              </a:rPr>
              <a:t>cout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&lt;</a:t>
            </a:r>
            <a:r>
              <a:rPr sz="1700">
                <a:solidFill>
                  <a:srgbClr val="56B6C2"/>
                </a:solidFill>
                <a:latin typeface="Consolas"/>
              </a:rPr>
              <a:t>&lt;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x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Code Example: Move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Code Example: Move Semantics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Transfer ownership efficiently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std::move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C++ 20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void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61AFEF"/>
                </a:solidFill>
                <a:latin typeface="Consolas"/>
              </a:rPr>
              <a:t>move_example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{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int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x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=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D19A66"/>
                </a:solidFill>
                <a:latin typeface="Consolas"/>
              </a:rPr>
              <a:t>5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int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y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=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std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F0F4FA"/>
                </a:solidFill>
                <a:latin typeface="Consolas"/>
              </a:rPr>
              <a:t>move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F0F4FA"/>
                </a:solidFill>
                <a:latin typeface="Consolas"/>
              </a:rPr>
              <a:t>x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std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F0F4FA"/>
                </a:solidFill>
                <a:latin typeface="Consolas"/>
              </a:rPr>
              <a:t>cout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&lt;</a:t>
            </a:r>
            <a:r>
              <a:rPr sz="1700">
                <a:solidFill>
                  <a:srgbClr val="56B6C2"/>
                </a:solidFill>
                <a:latin typeface="Consolas"/>
              </a:rPr>
              <a:t>&lt;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x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Exercise: Using Concepts, Ranges, and Move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Exercise: Using Concepts, Ranges, and Move Semantics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Write a function that uses concepts, ranges, and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std::vector&lt;int&gt; v = {1, 2, 3};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exercise.cpp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C++ 20</a:t>
            </a:r>
          </a:p>
          <a:p>
            <a:pPr>
              <a:spcAft>
                <a:spcPts val="200"/>
              </a:spcAft>
              <a:defRPr sz="1700">
                <a:latin typeface="Consolas"/>
              </a:defRPr>
            </a:pPr>
            <a:r>
              <a:rPr sz="1700">
                <a:solidFill>
                  <a:srgbClr val="C678DD"/>
                </a:solidFill>
                <a:latin typeface="Consolas"/>
              </a:rPr>
              <a:t>void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61AFEF"/>
                </a:solidFill>
                <a:latin typeface="Consolas"/>
              </a:rPr>
              <a:t>exercise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ABB2BF"/>
                </a:solidFill>
                <a:latin typeface="Consolas"/>
              </a:rPr>
              <a:t>{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int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x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=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D19A66"/>
                </a:solidFill>
                <a:latin typeface="Consolas"/>
              </a:rPr>
              <a:t>5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C678DD"/>
                </a:solidFill>
                <a:latin typeface="Consolas"/>
              </a:rPr>
              <a:t>int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y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=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std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F0F4FA"/>
                </a:solidFill>
                <a:latin typeface="Consolas"/>
              </a:rPr>
              <a:t>move</a:t>
            </a:r>
            <a:r>
              <a:rPr sz="1700">
                <a:solidFill>
                  <a:srgbClr val="ABB2BF"/>
                </a:solidFill>
                <a:latin typeface="Consolas"/>
              </a:rPr>
              <a:t>(</a:t>
            </a:r>
            <a:r>
              <a:rPr sz="1700">
                <a:solidFill>
                  <a:srgbClr val="F0F4FA"/>
                </a:solidFill>
                <a:latin typeface="Consolas"/>
              </a:rPr>
              <a:t>x</a:t>
            </a:r>
            <a:r>
              <a:rPr sz="1700">
                <a:solidFill>
                  <a:srgbClr val="ABB2BF"/>
                </a:solidFill>
                <a:latin typeface="Consolas"/>
              </a:rPr>
              <a:t>)</a:t>
            </a:r>
            <a:r>
              <a:rPr sz="1700">
                <a:solidFill>
                  <a:srgbClr val="ABB2BF"/>
                </a:solidFill>
                <a:latin typeface="Consolas"/>
              </a:rPr>
              <a:t>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std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56B6C2"/>
                </a:solidFill>
                <a:latin typeface="Consolas"/>
              </a:rPr>
              <a:t>:</a:t>
            </a:r>
            <a:r>
              <a:rPr sz="1700">
                <a:solidFill>
                  <a:srgbClr val="F0F4FA"/>
                </a:solidFill>
                <a:latin typeface="Consolas"/>
              </a:rPr>
              <a:t>cout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&lt;</a:t>
            </a:r>
            <a:r>
              <a:rPr sz="1700">
                <a:solidFill>
                  <a:srgbClr val="56B6C2"/>
                </a:solidFill>
                <a:latin typeface="Consolas"/>
              </a:rPr>
              <a:t>&lt;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x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56B6C2"/>
                </a:solidFill>
                <a:latin typeface="Consolas"/>
              </a:rPr>
              <a:t>&lt;</a:t>
            </a:r>
            <a:r>
              <a:rPr sz="1700">
                <a:solidFill>
                  <a:srgbClr val="56B6C2"/>
                </a:solidFill>
                <a:latin typeface="Consolas"/>
              </a:rPr>
              <a:t>&lt;</a:t>
            </a:r>
            <a:r>
              <a:rPr sz="1700">
                <a:solidFill>
                  <a:srgbClr val="F0F4FA"/>
                </a:solidFill>
                <a:latin typeface="Consolas"/>
              </a:rPr>
              <a:t> </a:t>
            </a:r>
            <a:r>
              <a:rPr sz="1700">
                <a:solidFill>
                  <a:srgbClr val="F0F4FA"/>
                </a:solidFill>
                <a:latin typeface="Consolas"/>
              </a:rPr>
              <a:t>'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5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Summary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Concepts for type safety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Ranges for uniform iteration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Move semantics for efficient data transfer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Closing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your attention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are welcome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 provided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