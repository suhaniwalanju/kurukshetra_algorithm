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PostgreSQL 16 Advanced Indexing &amp; EXPLAIN Plans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E2653"/>
                </a:solidFill>
                <a:latin typeface="Segoe UI"/>
              </a:defRPr>
            </a:pPr>
            <a:r>
              <a:t>Presented By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11350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Subject: PostgreSQL 16.6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Level: Intermediate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PostgreSQL 16 Advanced Indexing &amp; EXPLAIN Plans: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PostgreSQL 16 Advanced Indexing &amp; EXPLAIN Plans: Part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PostgreSQL 16.6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71699" y="1847849"/>
            <a:ext cx="7848599" cy="1904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Introduction to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Introduction to Indexing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PostgreSQL 16.6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Indexes speed up SELECT queries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Types: B-tree, Hash, GiST, SP-GiST, BRIN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CREATE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TABLE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employees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SERIAL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PRIMARY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KEY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name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TEXT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Types of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Types of Indexes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PostgreSQL 16.6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B-tree: Default, efficient for range queries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Hash: Fast for equality checks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GiST: Custom for complex data types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CREATE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INDEX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emp_name_idx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employees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C678DD"/>
                </a:solidFill>
                <a:latin typeface="Consolas"/>
              </a:rPr>
              <a:t>name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EXPLAIN Plan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EXPLAIN Plan Basics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PostgreSQL 16.6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Shows query execution plan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EXPLAIN ANALYZE for details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EXPLAIN FORMAT JSON for JSON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EXPLAIN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SELECT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*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FROM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employees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WHERE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name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98C379"/>
                </a:solidFill>
                <a:latin typeface="Consolas"/>
              </a:rPr>
              <a:t>John Doe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Advanced Indexing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Advanced Indexing Techniques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PostgreSQL 16.6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Covering Indexes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Partial Indexes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Unique Indexes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CREATE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INDEX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emp_id_name_idx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employees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id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name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Covering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Covering Indexes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PostgreSQL 16.6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Includes all needed columns in one index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Optimizes SELECT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CREATE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INDEX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emp_covering_idx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ON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employees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F0F4FA"/>
                </a:solidFill>
                <a:latin typeface="Consolas"/>
              </a:rPr>
              <a:t>id</a:t>
            </a:r>
            <a:r>
              <a:rPr sz="1900">
                <a:solidFill>
                  <a:srgbClr val="ABB2BF"/>
                </a:solidFill>
                <a:latin typeface="Consolas"/>
              </a:rPr>
              <a:t>,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name</a:t>
            </a:r>
            <a:r>
              <a:rPr sz="1900">
                <a:solidFill>
                  <a:srgbClr val="ABB2BF"/>
                </a:solidFill>
                <a:latin typeface="Consolas"/>
              </a:rPr>
              <a:t>,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salary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Partial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Partial Indexes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PostgreSQL 16.6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Indexes only rows that match a condition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Efficient for large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CREATE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INDEX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emp_partial_idx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ON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employees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F0F4FA"/>
                </a:solidFill>
                <a:latin typeface="Consolas"/>
              </a:rPr>
              <a:t>id</a:t>
            </a:r>
            <a:r>
              <a:rPr sz="1700">
                <a:solidFill>
                  <a:srgbClr val="ABB2BF"/>
                </a:solidFill>
                <a:latin typeface="Consolas"/>
              </a:rPr>
              <a:t>,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name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WHERE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id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&gt;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D19A66"/>
                </a:solidFill>
                <a:latin typeface="Consolas"/>
              </a:rPr>
              <a:t>100</a:t>
            </a:r>
            <a:r>
              <a:rPr sz="17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Unique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Unique Indexes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PostgreSQL 16.6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Ensures all values are unique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Faster than regular indexes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CREATE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UNIQUE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INDEX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emp_unique_idx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employees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id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Exercise: Advanced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Exercise: Advanced Indexing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PostgreSQL 16.6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Create a table and indexes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Analyze query performance</a:t>
            </a:r>
          </a:p>
          <a:p>
            <a:pPr>
              <a:defRPr sz="2600" i="1">
                <a:solidFill>
                  <a:srgbClr val="2563EB"/>
                </a:solidFill>
              </a:defRPr>
            </a:pPr>
            <a:r>
              <a:t>Reference: exercise_1.sql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CREATE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TABLE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orders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F0F4FA"/>
                </a:solidFill>
                <a:latin typeface="Consolas"/>
              </a:rPr>
              <a:t>id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E5C07B"/>
                </a:solidFill>
                <a:latin typeface="Consolas"/>
              </a:rPr>
              <a:t>SERIAL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PRIMARY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KEY</a:t>
            </a:r>
            <a:r>
              <a:rPr sz="1700">
                <a:solidFill>
                  <a:srgbClr val="ABB2BF"/>
                </a:solidFill>
                <a:latin typeface="Consolas"/>
              </a:rPr>
              <a:t>,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customer_id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E5C07B"/>
                </a:solidFill>
                <a:latin typeface="Consolas"/>
              </a:rPr>
              <a:t>INT</a:t>
            </a:r>
            <a:r>
              <a:rPr sz="1700">
                <a:solidFill>
                  <a:srgbClr val="ABB2BF"/>
                </a:solidFill>
                <a:latin typeface="Consolas"/>
              </a:rPr>
              <a:t>,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order_dat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CREATE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INDEX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ord_date_idx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ON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orders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F0F4FA"/>
                </a:solidFill>
                <a:latin typeface="Consolas"/>
              </a:rPr>
              <a:t>order_date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EXPLAIN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SELECT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*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FROM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orders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WHERE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order_date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BETWEEN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98C379"/>
                </a:solidFill>
                <a:latin typeface="Consolas"/>
              </a:rPr>
              <a:t>'</a:t>
            </a:r>
            <a:r>
              <a:rPr sz="1700">
                <a:solidFill>
                  <a:srgbClr val="98C379"/>
                </a:solidFill>
                <a:latin typeface="Consolas"/>
              </a:rPr>
              <a:t>2023-01-01</a:t>
            </a:r>
            <a:r>
              <a:rPr sz="1700">
                <a:solidFill>
                  <a:srgbClr val="98C379"/>
                </a:solidFill>
                <a:latin typeface="Consolas"/>
              </a:rPr>
              <a:t>'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AND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PostgreSQL 16 Advanced Indexing &amp; EXPLAIN Plans: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PostgreSQL 16 Advanced Indexing &amp; EXPLAIN Plans: Part   • 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PostgreSQL 16.6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71699" y="1847849"/>
            <a:ext cx="7848599" cy="1904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PostgreSQL 16 Advanced Indexing &amp; EXPLAIN Plans: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PostgreSQL 16 Advanced Indexing &amp; EXPLAIN Plans: Part   •   Slide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PostgreSQL 16.6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71699" y="1847849"/>
            <a:ext cx="7848599" cy="1904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