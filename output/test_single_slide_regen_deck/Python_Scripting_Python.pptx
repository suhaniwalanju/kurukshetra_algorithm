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 Notes:</a:t>
            </a:r>
          </a:p>
          <a:p>
            <a:r>
              <a:t>Complete Runnable File (ex_python_s2_slide_2):</a:t>
            </a:r>
          </a:p>
          <a:p>
            <a:r>
              <a:t>```python</a:t>
            </a:r>
          </a:p>
          <a:p>
            <a:r>
              <a:t>import sys</a:t>
            </a:r>
          </a:p>
          <a:p>
            <a:r>
              <a:t>import asyncio</a:t>
            </a:r>
          </a:p>
          <a:p/>
          <a:p>
            <a:r>
              <a:t>async def demonstrate_concept():</a:t>
            </a:r>
          </a:p>
          <a:p>
            <a:r>
              <a:t>    # Concept: Slide 2</a:t>
            </a:r>
          </a:p>
          <a:p>
            <a:r>
              <a:t>    message = "Slide 2 Executed in Python 3.12"</a:t>
            </a:r>
          </a:p>
          <a:p>
            <a:r>
              <a:t>    print(message)</a:t>
            </a:r>
          </a:p>
          <a:p>
            <a:r>
              <a:t>    return message</a:t>
            </a:r>
          </a:p>
          <a:p/>
          <a:p>
            <a:r>
              <a:t>def main():</a:t>
            </a:r>
          </a:p>
          <a:p>
            <a:r>
              <a:t>    asyncio.run(demonstrate_concept())</a:t>
            </a:r>
          </a:p>
          <a:p/>
          <a:p>
            <a:r>
              <a:t>if __name__ == '__main__':</a:t>
            </a:r>
          </a:p>
          <a:p>
            <a:r>
              <a:t>    main()</a:t>
            </a:r>
          </a:p>
          <a:p/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28800"/>
            <a:ext cx="9445752" cy="164592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40480"/>
            <a:ext cx="9445752" cy="10972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621792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950976"/>
            <a:ext cx="9445752" cy="6400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1709928"/>
            <a:ext cx="9445752" cy="42976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621792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217920"/>
            <a:ext cx="9144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950976"/>
            <a:ext cx="9445752" cy="6400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1709928"/>
            <a:ext cx="4572000" cy="42976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709928"/>
            <a:ext cx="4572000" cy="42976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371600" y="621792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058400" y="6217920"/>
            <a:ext cx="9144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81199" y="1168400"/>
            <a:ext cx="8229599" cy="438149"/>
          </a:xfrm>
        </p:spPr>
        <p:txBody>
          <a:bodyPr wrap="square"/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35199" y="5454650"/>
            <a:ext cx="7721599" cy="330200"/>
          </a:xfrm>
        </p:spPr>
        <p:txBody>
          <a:bodyPr wrap="square"/>
          <a:lstStyle/>
          <a:p>
            <a:pPr algn="l">
              <a:defRPr sz="3000" b="1">
                <a:solidFill>
                  <a:srgbClr val="2563EB"/>
                </a:solidFill>
                <a:latin typeface="Segoe UI"/>
              </a:defRPr>
            </a:pPr>
            <a:r>
              <a:t>Presented By Prof. Test</a:t>
            </a:r>
          </a:p>
          <a:p>
            <a:pPr algn="l">
              <a:defRPr sz="1600">
                <a:solidFill>
                  <a:srgbClr val="64748B"/>
                </a:solidFill>
                <a:latin typeface="Segoe UI"/>
              </a:defRPr>
            </a:pPr>
            <a:r>
              <a:t>VIT Course Material</a:t>
            </a:r>
          </a:p>
        </p:txBody>
      </p:sp>
      <p:pic>
        <p:nvPicPr>
          <p:cNvPr id="5" name="Picture 4" descr="dp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2926080" cy="731520"/>
          </a:xfrm>
          <a:prstGeom prst="rect">
            <a:avLst/>
          </a:prstGeom>
        </p:spPr>
      </p:pic>
      <p:sp>
        <p:nvSpPr>
          <p:cNvPr id="6" name="Footer Placeholder"/>
          <p:cNvSpPr txBox="1"/>
          <p:nvPr/>
        </p:nvSpPr>
        <p:spPr>
          <a:xfrm>
            <a:off x="1981199" y="5994400"/>
            <a:ext cx="8229599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4748B"/>
                </a:solidFill>
                <a:latin typeface="Segoe UI"/>
              </a:defRPr>
            </a:pPr>
            <a:r>
              <a:t>VIT   • 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199" y="1168400"/>
            <a:ext cx="8229599" cy="438149"/>
          </a:xfrm>
        </p:spPr>
        <p:txBody>
          <a:bodyPr wrap="square"/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1981199" y="1784350"/>
            <a:ext cx="3505199" cy="2159000"/>
          </a:xfrm>
        </p:spPr>
        <p:txBody>
          <a:bodyPr wrap="square" anchor="t"/>
          <a:lstStyle/>
          <a:p>
            <a:pPr algn="l">
              <a:spcAft>
                <a:spcPts val="10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Refined: Include timing calculation</a:t>
            </a:r>
          </a:p>
          <a:p>
            <a:pPr algn="l">
              <a:spcAft>
                <a:spcPts val="10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C</a:t>
            </a:r>
          </a:p>
          <a:p>
            <a:pPr algn="l">
              <a:spcAft>
                <a:spcPts val="10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5740399" y="1784350"/>
            <a:ext cx="4470399" cy="2159000"/>
          </a:xfrm>
        </p:spPr>
        <p:txBody>
          <a:bodyPr/>
          <a:lstStyle/>
          <a:p/>
        </p:txBody>
      </p:sp>
      <p:pic>
        <p:nvPicPr>
          <p:cNvPr id="6" name="Picture 5" descr="dp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2926080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40399" y="1784350"/>
            <a:ext cx="4470399" cy="2159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Aft>
                <a:spcPts val="600"/>
              </a:spcAft>
              <a:defRPr sz="1400">
                <a:solidFill>
                  <a:srgbClr val="60A5FA"/>
                </a:solidFill>
                <a:latin typeface="Consolas"/>
              </a:defRPr>
            </a:pPr>
            <a:r>
              <a:t>// PYTHON 3.12.8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788291"/>
                </a:solidFill>
                <a:latin typeface="Consolas"/>
              </a:rPr>
              <a:t># Concept: Slide 2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F0F4FA"/>
                </a:solidFill>
                <a:latin typeface="Consolas"/>
              </a:rPr>
              <a:t>message</a:t>
            </a:r>
            <a:r>
              <a:rPr sz="1400">
                <a:solidFill>
                  <a:srgbClr val="F0F4FA"/>
                </a:solidFill>
                <a:latin typeface="Consolas"/>
              </a:rPr>
              <a:t> </a:t>
            </a:r>
            <a:r>
              <a:rPr sz="1400">
                <a:solidFill>
                  <a:srgbClr val="56B6C2"/>
                </a:solidFill>
                <a:latin typeface="Consolas"/>
              </a:rPr>
              <a:t>=</a:t>
            </a:r>
            <a:r>
              <a:rPr sz="1400">
                <a:solidFill>
                  <a:srgbClr val="F0F4FA"/>
                </a:solidFill>
                <a:latin typeface="Consolas"/>
              </a:rPr>
              <a:t> </a:t>
            </a:r>
            <a:r>
              <a:rPr sz="1400">
                <a:solidFill>
                  <a:srgbClr val="98C379"/>
                </a:solidFill>
                <a:latin typeface="Consolas"/>
              </a:rPr>
              <a:t>"</a:t>
            </a:r>
            <a:r>
              <a:rPr sz="1400">
                <a:solidFill>
                  <a:srgbClr val="98C379"/>
                </a:solidFill>
                <a:latin typeface="Consolas"/>
              </a:rPr>
              <a:t>Slide 2 Executed in Python 3.12</a:t>
            </a:r>
            <a:r>
              <a:rPr sz="1400">
                <a:solidFill>
                  <a:srgbClr val="98C379"/>
                </a:solidFill>
                <a:latin typeface="Consolas"/>
              </a:rPr>
              <a:t>"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E5C07B"/>
                </a:solidFill>
                <a:latin typeface="Consolas"/>
              </a:rPr>
              <a:t>print</a:t>
            </a:r>
            <a:r>
              <a:rPr sz="1400">
                <a:solidFill>
                  <a:srgbClr val="ABB2BF"/>
                </a:solidFill>
                <a:latin typeface="Consolas"/>
              </a:rPr>
              <a:t>(</a:t>
            </a:r>
            <a:r>
              <a:rPr sz="1400">
                <a:solidFill>
                  <a:srgbClr val="F0F4FA"/>
                </a:solidFill>
                <a:latin typeface="Consolas"/>
              </a:rPr>
              <a:t>message</a:t>
            </a:r>
            <a:r>
              <a:rPr sz="1400">
                <a:solidFill>
                  <a:srgbClr val="ABB2BF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C678DD"/>
                </a:solidFill>
                <a:latin typeface="Consolas"/>
              </a:rPr>
              <a:t>return</a:t>
            </a:r>
            <a:r>
              <a:rPr sz="1400">
                <a:solidFill>
                  <a:srgbClr val="F0F4FA"/>
                </a:solidFill>
                <a:latin typeface="Consolas"/>
              </a:rPr>
              <a:t> </a:t>
            </a:r>
            <a:r>
              <a:rPr sz="1400">
                <a:solidFill>
                  <a:srgbClr val="F0F4FA"/>
                </a:solidFill>
                <a:latin typeface="Consolas"/>
              </a:rPr>
              <a:t>message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F0F4FA"/>
                </a:solidFill>
                <a:latin typeface="Consolas"/>
              </a:rPr>
              <a:t>asyncio</a:t>
            </a:r>
            <a:r>
              <a:rPr sz="1400">
                <a:solidFill>
                  <a:srgbClr val="56B6C2"/>
                </a:solidFill>
                <a:latin typeface="Consolas"/>
              </a:rPr>
              <a:t>.</a:t>
            </a:r>
            <a:r>
              <a:rPr sz="1400">
                <a:solidFill>
                  <a:srgbClr val="F0F4FA"/>
                </a:solidFill>
                <a:latin typeface="Consolas"/>
              </a:rPr>
              <a:t>run</a:t>
            </a:r>
            <a:r>
              <a:rPr sz="1400">
                <a:solidFill>
                  <a:srgbClr val="ABB2BF"/>
                </a:solidFill>
                <a:latin typeface="Consolas"/>
              </a:rPr>
              <a:t>(</a:t>
            </a:r>
            <a:r>
              <a:rPr sz="1400">
                <a:solidFill>
                  <a:srgbClr val="F0F4FA"/>
                </a:solidFill>
                <a:latin typeface="Consolas"/>
              </a:rPr>
              <a:t>demonstrate_concept</a:t>
            </a:r>
            <a:r>
              <a:rPr sz="1400">
                <a:solidFill>
                  <a:srgbClr val="ABB2BF"/>
                </a:solidFill>
                <a:latin typeface="Consolas"/>
              </a:rPr>
              <a:t>(</a:t>
            </a:r>
            <a:r>
              <a:rPr sz="1400">
                <a:solidFill>
                  <a:srgbClr val="ABB2BF"/>
                </a:solidFill>
                <a:latin typeface="Consolas"/>
              </a:rPr>
              <a:t>)</a:t>
            </a:r>
            <a:r>
              <a:rPr sz="1400">
                <a:solidFill>
                  <a:srgbClr val="ABB2BF"/>
                </a:solidFill>
                <a:latin typeface="Consolas"/>
              </a:rPr>
              <a:t>)</a:t>
            </a:r>
          </a:p>
        </p:txBody>
      </p:sp>
      <p:sp>
        <p:nvSpPr>
          <p:cNvPr id="8" name="Footer Placeholder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4748B"/>
                </a:solidFill>
                <a:latin typeface="Segoe UI"/>
              </a:defRPr>
            </a:pPr>
            <a:r>
              <a:t>VIT   • 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199" y="1168400"/>
            <a:ext cx="8229599" cy="438149"/>
          </a:xfrm>
        </p:spPr>
        <p:txBody>
          <a:bodyPr wrap="square"/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1699" y="1847849"/>
            <a:ext cx="7848599" cy="635000"/>
          </a:xfrm>
        </p:spPr>
        <p:txBody>
          <a:bodyPr wrap="square" anchor="t"/>
          <a:lstStyle/>
          <a:p>
            <a:pPr algn="l">
              <a:spcAft>
                <a:spcPts val="10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E</a:t>
            </a:r>
          </a:p>
          <a:p>
            <a:pPr algn="l">
              <a:spcAft>
                <a:spcPts val="10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F</a:t>
            </a:r>
          </a:p>
        </p:txBody>
      </p:sp>
      <p:pic>
        <p:nvPicPr>
          <p:cNvPr id="5" name="Picture 4" descr="dp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2926080" cy="731520"/>
          </a:xfrm>
          <a:prstGeom prst="rect">
            <a:avLst/>
          </a:prstGeom>
        </p:spPr>
      </p:pic>
      <p:sp>
        <p:nvSpPr>
          <p:cNvPr id="6" name="Footer Placeholder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4748B"/>
                </a:solidFill>
                <a:latin typeface="Segoe UI"/>
              </a:defRPr>
            </a:pPr>
            <a:r>
              <a:t>VIT   •   Slide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