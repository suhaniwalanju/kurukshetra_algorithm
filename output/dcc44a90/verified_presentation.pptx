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Welcome students and set clear expectations for today's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Show the basics of AsyncIO and how to run a simple coroutine.</a:t>
            </a:r>
          </a:p>
          <a:p/>
          <a:p>
            <a:r>
              <a:t>Trainer Notes:</a:t>
            </a:r>
          </a:p>
          <a:p>
            <a:r>
              <a:t>Complete Runnable File (ex_python_s3_introduction_to_asyncio):</a:t>
            </a:r>
          </a:p>
          <a:p>
            <a:r>
              <a:t>```python</a:t>
            </a:r>
          </a:p>
          <a:p>
            <a:r>
              <a:t>import sys</a:t>
            </a:r>
          </a:p>
          <a:p>
            <a:r>
              <a:t>import asyncio</a:t>
            </a:r>
          </a:p>
          <a:p/>
          <a:p>
            <a:r>
              <a:t>async def demonstrate_concept():</a:t>
            </a:r>
          </a:p>
          <a:p>
            <a:r>
              <a:t>    # Concept: Introduction to AsyncIO</a:t>
            </a:r>
          </a:p>
          <a:p>
            <a:r>
              <a:t>    message = "Introduction to AsyncIO Executed in Python 3.12"</a:t>
            </a:r>
          </a:p>
          <a:p>
            <a:r>
              <a:t>    print(message)</a:t>
            </a:r>
          </a:p>
          <a:p>
            <a:r>
              <a:t>    return message</a:t>
            </a:r>
          </a:p>
          <a:p/>
          <a:p>
            <a:r>
              <a:t>def main():</a:t>
            </a:r>
          </a:p>
          <a:p>
            <a:r>
              <a:t>    asyncio.run(demonstrate_concept())</a:t>
            </a:r>
          </a:p>
          <a:p/>
          <a:p>
            <a:r>
              <a:t>if __name__ == '__main__':</a:t>
            </a:r>
          </a:p>
          <a:p>
            <a:r>
              <a:t>    main()</a:t>
            </a:r>
          </a:p>
          <a:p/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Explain what coroutines are and run a simple example.</a:t>
            </a:r>
          </a:p>
          <a:p/>
          <a:p>
            <a:r>
              <a:t>Trainer Notes:</a:t>
            </a:r>
          </a:p>
          <a:p>
            <a:r>
              <a:t>Complete Runnable File (ex_python_s4_understanding_coroutines):</a:t>
            </a:r>
          </a:p>
          <a:p>
            <a:r>
              <a:t>```python</a:t>
            </a:r>
          </a:p>
          <a:p>
            <a:r>
              <a:t>import sys</a:t>
            </a:r>
          </a:p>
          <a:p>
            <a:r>
              <a:t>import asyncio</a:t>
            </a:r>
          </a:p>
          <a:p/>
          <a:p>
            <a:r>
              <a:t>async def demonstrate_concept():</a:t>
            </a:r>
          </a:p>
          <a:p>
            <a:r>
              <a:t>    # Concept: Understanding Coroutines</a:t>
            </a:r>
          </a:p>
          <a:p>
            <a:r>
              <a:t>    message = "Understanding Coroutines Executed in Python 3.12"</a:t>
            </a:r>
          </a:p>
          <a:p>
            <a:r>
              <a:t>    print(message)</a:t>
            </a:r>
          </a:p>
          <a:p>
            <a:r>
              <a:t>    return message</a:t>
            </a:r>
          </a:p>
          <a:p/>
          <a:p>
            <a:r>
              <a:t>def main():</a:t>
            </a:r>
          </a:p>
          <a:p>
            <a:r>
              <a:t>    asyncio.run(demonstrate_concept())</a:t>
            </a:r>
          </a:p>
          <a:p/>
          <a:p>
            <a:r>
              <a:t>if __name__ == '__main__':</a:t>
            </a:r>
          </a:p>
          <a:p>
            <a:r>
              <a:t>    main()</a:t>
            </a:r>
          </a:p>
          <a:p/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Show how to use await and run multiple async functions.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Discuss how AsyncIO handles I/O operations and run a simple example.</a:t>
            </a:r>
          </a:p>
          <a:p/>
          <a:p>
            <a:r>
              <a:t>Trainer Notes:</a:t>
            </a:r>
          </a:p>
          <a:p>
            <a:r>
              <a:t>Complete Runnable File (ex_python_s6_asyncio_and_i_o_operatio):</a:t>
            </a:r>
          </a:p>
          <a:p>
            <a:r>
              <a:t>```python</a:t>
            </a:r>
          </a:p>
          <a:p>
            <a:r>
              <a:t>import sys</a:t>
            </a:r>
          </a:p>
          <a:p>
            <a:r>
              <a:t>import asyncio</a:t>
            </a:r>
          </a:p>
          <a:p/>
          <a:p>
            <a:r>
              <a:t>async def demonstrate_concept():</a:t>
            </a:r>
          </a:p>
          <a:p>
            <a:r>
              <a:t>    # Concept: AsyncIO and I/O Operations</a:t>
            </a:r>
          </a:p>
          <a:p>
            <a:r>
              <a:t>    message = "AsyncIO and I/O Operations Executed in Python 3.12"</a:t>
            </a:r>
          </a:p>
          <a:p>
            <a:r>
              <a:t>    print(message)</a:t>
            </a:r>
          </a:p>
          <a:p>
            <a:r>
              <a:t>    return message</a:t>
            </a:r>
          </a:p>
          <a:p/>
          <a:p>
            <a:r>
              <a:t>def main():</a:t>
            </a:r>
          </a:p>
          <a:p>
            <a:r>
              <a:t>    asyncio.run(demonstrate_concept())</a:t>
            </a:r>
          </a:p>
          <a:p/>
          <a:p>
            <a:r>
              <a:t>if __name__ == '__main__':</a:t>
            </a:r>
          </a:p>
          <a:p>
            <a:r>
              <a:t>    main()</a:t>
            </a:r>
          </a:p>
          <a:p/>
          <a:p>
            <a:r>
              <a:t>```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Provide a starter code and expected output for the exercise.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28800"/>
            <a:ext cx="9445752" cy="164592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40480"/>
            <a:ext cx="9445752" cy="109728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6217920"/>
            <a:ext cx="8229600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950976"/>
            <a:ext cx="9445752" cy="64008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1709928"/>
            <a:ext cx="9445752" cy="429768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6217920"/>
            <a:ext cx="8229600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58400" y="6217920"/>
            <a:ext cx="9144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950976"/>
            <a:ext cx="9445752" cy="64008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1709928"/>
            <a:ext cx="4572000" cy="42976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709928"/>
            <a:ext cx="4572000" cy="42976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371600" y="6217920"/>
            <a:ext cx="8229600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058400" y="6217920"/>
            <a:ext cx="9144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81199" y="1168400"/>
            <a:ext cx="82295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Python 3.12 AsyncIO &amp; High-Performance Coroutines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35199" y="5454650"/>
            <a:ext cx="7721599" cy="330200"/>
          </a:xfrm>
        </p:spPr>
        <p:txBody>
          <a:bodyPr wrap="square"/>
          <a:lstStyle/>
          <a:p>
            <a:pPr algn="l">
              <a:defRPr sz="3000" b="1">
                <a:solidFill>
                  <a:srgbClr val="2563EB"/>
                </a:solidFill>
                <a:latin typeface="Segoe UI"/>
              </a:defRPr>
            </a:pPr>
            <a:r>
              <a:t>Presented By sam</a:t>
            </a:r>
          </a:p>
          <a:p>
            <a:pPr algn="l">
              <a:defRPr sz="1600">
                <a:solidFill>
                  <a:srgbClr val="64748B"/>
                </a:solidFill>
                <a:latin typeface="Segoe UI"/>
              </a:defRPr>
            </a:pPr>
            <a:r>
              <a:t>VIT Course Material</a:t>
            </a:r>
          </a:p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Footer Placeholder"/>
          <p:cNvSpPr txBox="1"/>
          <p:nvPr/>
        </p:nvSpPr>
        <p:spPr>
          <a:xfrm>
            <a:off x="1981199" y="5994400"/>
            <a:ext cx="8229599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VIT   •   Python 3.12 AsyncIO &amp; High-Performance Coroutines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199" y="1168400"/>
            <a:ext cx="82295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71699" y="1847849"/>
            <a:ext cx="7848599" cy="88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Introduction to AsyncIO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Understanding Coroutines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Writing Simple Async Code</a:t>
            </a:r>
          </a:p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Footer Placeholder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VIT   •   Agenda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199" y="1168400"/>
            <a:ext cx="82295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Introduction to AsyncIO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981199" y="1784350"/>
            <a:ext cx="350519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AsyncIO for non-blocking I/O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Example: AsyncIO basics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740399" y="1784350"/>
            <a:ext cx="447039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740399" y="1784350"/>
            <a:ext cx="4470399" cy="2159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PYTHON 3.12.8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788291"/>
                </a:solidFill>
                <a:latin typeface="Consolas"/>
              </a:rPr>
              <a:t># Concept: Introduction to AsyncIO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98C379"/>
                </a:solidFill>
                <a:latin typeface="Consolas"/>
              </a:rPr>
              <a:t>Introduction to AsyncIO Executed in Python 3.12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E5C07B"/>
                </a:solidFill>
                <a:latin typeface="Consolas"/>
              </a:rPr>
              <a:t>print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return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asyncio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run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demonstrate_concept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VIT   •   Introduction to AsyncIO   [Unverified]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199" y="1168400"/>
            <a:ext cx="82295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Understanding Coroutines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981199" y="1784350"/>
            <a:ext cx="350519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Coroutines are cooperative threads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Example: Simple coroutine flow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740399" y="1784350"/>
            <a:ext cx="447039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740399" y="1784350"/>
            <a:ext cx="4470399" cy="2159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PYTHON 3.12.8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788291"/>
                </a:solidFill>
                <a:latin typeface="Consolas"/>
              </a:rPr>
              <a:t># Concept: Understanding Coroutines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98C379"/>
                </a:solidFill>
                <a:latin typeface="Consolas"/>
              </a:rPr>
              <a:t>Understanding Coroutines Executed in Python 3.12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E5C07B"/>
                </a:solidFill>
                <a:latin typeface="Consolas"/>
              </a:rPr>
              <a:t>print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return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asyncio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run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demonstrate_concept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VIT   •   Understanding Coroutines   [Unverified]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199" y="1168400"/>
            <a:ext cx="82295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Writing Simple Async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981199" y="1784350"/>
            <a:ext cx="3505199" cy="271145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Example: Async function with await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Example: Coroutine call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740399" y="1784350"/>
            <a:ext cx="4470399" cy="271145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740399" y="1784350"/>
            <a:ext cx="4470399" cy="271145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PYTHON 3.12.8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import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asyncio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async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def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61AFEF"/>
                </a:solidFill>
                <a:latin typeface="Consolas"/>
              </a:rPr>
              <a:t>main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: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E5C07B"/>
                </a:solidFill>
                <a:latin typeface="Consolas"/>
              </a:rPr>
              <a:t>print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98C379"/>
                </a:solidFill>
                <a:latin typeface="Consolas"/>
              </a:rPr>
              <a:t>'</a:t>
            </a:r>
            <a:r>
              <a:rPr sz="1400">
                <a:solidFill>
                  <a:srgbClr val="98C379"/>
                </a:solidFill>
                <a:latin typeface="Consolas"/>
              </a:rPr>
              <a:t>Main function started</a:t>
            </a:r>
            <a:r>
              <a:rPr sz="1400">
                <a:solidFill>
                  <a:srgbClr val="98C379"/>
                </a:solidFill>
                <a:latin typeface="Consolas"/>
              </a:rPr>
              <a:t>'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C678DD"/>
                </a:solidFill>
                <a:latin typeface="Consolas"/>
              </a:rPr>
              <a:t>await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asyncio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sleep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D19A66"/>
                </a:solidFill>
                <a:latin typeface="Consolas"/>
              </a:rPr>
              <a:t>1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E5C07B"/>
                </a:solidFill>
                <a:latin typeface="Consolas"/>
              </a:rPr>
              <a:t>print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98C379"/>
                </a:solidFill>
                <a:latin typeface="Consolas"/>
              </a:rPr>
              <a:t>'</a:t>
            </a:r>
            <a:r>
              <a:rPr sz="1400">
                <a:solidFill>
                  <a:srgbClr val="98C379"/>
                </a:solidFill>
                <a:latin typeface="Consolas"/>
              </a:rPr>
              <a:t>Main function ended</a:t>
            </a:r>
            <a:r>
              <a:rPr sz="1400">
                <a:solidFill>
                  <a:srgbClr val="98C379"/>
                </a:solidFill>
                <a:latin typeface="Consolas"/>
              </a:rPr>
              <a:t>'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asyncio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run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main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async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C678DD"/>
                </a:solidFill>
                <a:latin typeface="Consolas"/>
              </a:rPr>
              <a:t>def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61AFEF"/>
                </a:solidFill>
                <a:latin typeface="Consolas"/>
              </a:rPr>
              <a:t>coroutine2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: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E5C07B"/>
                </a:solidFill>
                <a:latin typeface="Consolas"/>
              </a:rPr>
              <a:t>print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98C379"/>
                </a:solidFill>
                <a:latin typeface="Consolas"/>
              </a:rPr>
              <a:t>'</a:t>
            </a:r>
            <a:r>
              <a:rPr sz="1400">
                <a:solidFill>
                  <a:srgbClr val="98C379"/>
                </a:solidFill>
                <a:latin typeface="Consolas"/>
              </a:rPr>
              <a:t>Coroutine 2 started</a:t>
            </a:r>
            <a:r>
              <a:rPr sz="1400">
                <a:solidFill>
                  <a:srgbClr val="98C379"/>
                </a:solidFill>
                <a:latin typeface="Consolas"/>
              </a:rPr>
              <a:t>'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C678DD"/>
                </a:solidFill>
                <a:latin typeface="Consolas"/>
              </a:rPr>
              <a:t>await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asyncio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sleep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D19A66"/>
                </a:solidFill>
                <a:latin typeface="Consolas"/>
              </a:rPr>
              <a:t>1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E5C07B"/>
                </a:solidFill>
                <a:latin typeface="Consolas"/>
              </a:rPr>
              <a:t>print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98C379"/>
                </a:solidFill>
                <a:latin typeface="Consolas"/>
              </a:rPr>
              <a:t>'</a:t>
            </a:r>
            <a:r>
              <a:rPr sz="1400">
                <a:solidFill>
                  <a:srgbClr val="98C379"/>
                </a:solidFill>
                <a:latin typeface="Consolas"/>
              </a:rPr>
              <a:t>Coroutine 2 ended</a:t>
            </a:r>
            <a:r>
              <a:rPr sz="1400">
                <a:solidFill>
                  <a:srgbClr val="98C379"/>
                </a:solidFill>
                <a:latin typeface="Consolas"/>
              </a:rPr>
              <a:t>'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asyncio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run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coroutine2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VIT   •   Writing Simple Async Code   [Unverified]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199" y="1168400"/>
            <a:ext cx="82295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AsyncIO and I/O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981199" y="1784350"/>
            <a:ext cx="350519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Handling I/O operations in async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Example: Async I/O operation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740399" y="1784350"/>
            <a:ext cx="447039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740399" y="1784350"/>
            <a:ext cx="4470399" cy="2159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PYTHON 3.12.8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788291"/>
                </a:solidFill>
                <a:latin typeface="Consolas"/>
              </a:rPr>
              <a:t># Concept: AsyncIO and I/O Operations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56B6C2"/>
                </a:solidFill>
                <a:latin typeface="Consolas"/>
              </a:rPr>
              <a:t>=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98C379"/>
                </a:solidFill>
                <a:latin typeface="Consolas"/>
              </a:rPr>
              <a:t>AsyncIO and I/O Operations Executed in Python ...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E5C07B"/>
                </a:solidFill>
                <a:latin typeface="Consolas"/>
              </a:rPr>
              <a:t>print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C678DD"/>
                </a:solidFill>
                <a:latin typeface="Consolas"/>
              </a:rPr>
              <a:t>return</a:t>
            </a:r>
            <a:r>
              <a:rPr sz="1400">
                <a:solidFill>
                  <a:srgbClr val="F0F4FA"/>
                </a:solidFill>
                <a:latin typeface="Consolas"/>
              </a:rPr>
              <a:t> </a:t>
            </a:r>
            <a:r>
              <a:rPr sz="1400">
                <a:solidFill>
                  <a:srgbClr val="F0F4FA"/>
                </a:solidFill>
                <a:latin typeface="Consolas"/>
              </a:rPr>
              <a:t>message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asyncio</a:t>
            </a:r>
            <a:r>
              <a:rPr sz="1400">
                <a:solidFill>
                  <a:srgbClr val="56B6C2"/>
                </a:solidFill>
                <a:latin typeface="Consolas"/>
              </a:rPr>
              <a:t>.</a:t>
            </a:r>
            <a:r>
              <a:rPr sz="1400">
                <a:solidFill>
                  <a:srgbClr val="F0F4FA"/>
                </a:solidFill>
                <a:latin typeface="Consolas"/>
              </a:rPr>
              <a:t>run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F0F4FA"/>
                </a:solidFill>
                <a:latin typeface="Consolas"/>
              </a:rPr>
              <a:t>demonstrate_concept</a:t>
            </a:r>
            <a:r>
              <a:rPr sz="1400">
                <a:solidFill>
                  <a:srgbClr val="ABB2BF"/>
                </a:solidFill>
                <a:latin typeface="Consolas"/>
              </a:rPr>
              <a:t>(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  <a:r>
              <a:rPr sz="1400">
                <a:solidFill>
                  <a:srgbClr val="ABB2BF"/>
                </a:solidFill>
                <a:latin typeface="Consolas"/>
              </a:rPr>
              <a:t>)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VIT   •   AsyncIO and I/O Operations   [Unverified]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199" y="1168400"/>
            <a:ext cx="82295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Exercise: Fetch Data from URL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1981199" y="1784350"/>
            <a:ext cx="3505199" cy="215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Write an async function to fetch data from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Run the function and print the response</a:t>
            </a:r>
          </a:p>
          <a:p>
            <a:pPr>
              <a:defRPr sz="2800" i="1">
                <a:solidFill>
                  <a:srgbClr val="2563EB"/>
                </a:solidFill>
                <a:latin typeface="Segoe UI"/>
              </a:defRPr>
            </a:pPr>
            <a:r>
              <a:t>Exercise Reference: exercise_ref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5740399" y="1784350"/>
            <a:ext cx="4470399" cy="2159000"/>
          </a:xfrm>
        </p:spPr>
        <p:txBody>
          <a:bodyPr/>
          <a:lstStyle/>
          <a:p/>
        </p:txBody>
      </p:sp>
      <p:pic>
        <p:nvPicPr>
          <p:cNvPr id="6" name="Picture 5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740399" y="1784350"/>
            <a:ext cx="4470399" cy="2159000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/>
          <a:lstStyle/>
          <a:p>
            <a:pPr algn="ctr">
              <a:spcAft>
                <a:spcPts val="600"/>
              </a:spcAft>
              <a:defRPr sz="1400">
                <a:solidFill>
                  <a:srgbClr val="60A5FA"/>
                </a:solidFill>
                <a:latin typeface="Consolas"/>
              </a:defRPr>
            </a:pPr>
            <a:r>
              <a:t>// PYTHON 3.12.8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ABB2BF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  <a:defRPr sz="1400">
                <a:latin typeface="Consolas"/>
              </a:defRPr>
            </a:pPr>
            <a:r>
              <a:rPr sz="1400">
                <a:solidFill>
                  <a:srgbClr val="F0F4FA"/>
                </a:solidFill>
                <a:latin typeface="Consolas"/>
              </a:rPr>
              <a:t>    </a:t>
            </a:r>
            <a:r>
              <a:rPr sz="1400">
                <a:solidFill>
                  <a:srgbClr val="98C379"/>
                </a:solidFill>
                <a:latin typeface="Consolas"/>
              </a:rPr>
              <a:t>"</a:t>
            </a:r>
            <a:r>
              <a:rPr sz="1400">
                <a:solidFill>
                  <a:srgbClr val="98C379"/>
                </a:solidFill>
                <a:latin typeface="Consolas"/>
              </a:rPr>
              <a:t>async def fetch_data(url):</a:t>
            </a:r>
            <a:r>
              <a:rPr sz="1400">
                <a:solidFill>
                  <a:srgbClr val="98C379"/>
                </a:solidFill>
                <a:latin typeface="Consolas"/>
              </a:rPr>
              <a:t>\n</a:t>
            </a:r>
            <a:r>
              <a:rPr sz="1400">
                <a:solidFill>
                  <a:srgbClr val="98C379"/>
                </a:solidFill>
                <a:latin typeface="Consolas"/>
              </a:rPr>
              <a:t>        async with aioht...</a:t>
            </a:r>
          </a:p>
        </p:txBody>
      </p:sp>
      <p:sp>
        <p:nvSpPr>
          <p:cNvPr id="8" name="Footer Placeholder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VIT   •   Exercise: Fetch Data from URL   [Unverified]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199" y="1168400"/>
            <a:ext cx="82295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71699" y="1847849"/>
            <a:ext cx="7848599" cy="88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AsyncIO basics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Understanding coroutines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Handling I/O operations</a:t>
            </a:r>
          </a:p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Footer Placeholder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VIT   •   Summary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VIT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199" y="1168400"/>
            <a:ext cx="8229599" cy="438149"/>
          </a:xfrm>
        </p:spPr>
        <p:txBody>
          <a:bodyPr wrap="square"/>
          <a:lstStyle/>
          <a:p>
            <a:pPr algn="l">
              <a:defRPr sz="4400" b="1">
                <a:solidFill>
                  <a:srgbClr val="1E2653"/>
                </a:solidFill>
                <a:latin typeface="Arial"/>
              </a:defRPr>
            </a:pPr>
            <a:r>
              <a:t>Closing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71699" y="1847849"/>
            <a:ext cx="7848599" cy="889000"/>
          </a:xfrm>
        </p:spPr>
        <p:txBody>
          <a:bodyPr wrap="square" anchor="t"/>
          <a:lstStyle/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Thank you for attending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Questions are welcome</a:t>
            </a:r>
          </a:p>
          <a:p>
            <a:pPr algn="l">
              <a:spcAft>
                <a:spcPts val="1000"/>
              </a:spcAft>
              <a:defRPr sz="3000">
                <a:solidFill>
                  <a:srgbClr val="1E293B"/>
                </a:solidFill>
                <a:latin typeface="Segoe UI"/>
              </a:defRPr>
            </a:pPr>
            <a:r>
              <a:t>•  References provided</a:t>
            </a:r>
          </a:p>
        </p:txBody>
      </p:sp>
      <p:pic>
        <p:nvPicPr>
          <p:cNvPr id="5" name="Picture 4" descr="dp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2926080" cy="731520"/>
          </a:xfrm>
          <a:prstGeom prst="rect">
            <a:avLst/>
          </a:prstGeom>
        </p:spPr>
      </p:pic>
      <p:sp>
        <p:nvSpPr>
          <p:cNvPr id="6" name="Footer Placeholder"/>
          <p:cNvSpPr txBox="1"/>
          <p:nvPr/>
        </p:nvSpPr>
        <p:spPr>
          <a:xfrm>
            <a:off x="1981199" y="5994400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>
                <a:solidFill>
                  <a:srgbClr val="64748B"/>
                </a:solidFill>
                <a:latin typeface="Segoe UI"/>
              </a:defRPr>
            </a:pPr>
            <a:r>
              <a:t>VIT   •   Closing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