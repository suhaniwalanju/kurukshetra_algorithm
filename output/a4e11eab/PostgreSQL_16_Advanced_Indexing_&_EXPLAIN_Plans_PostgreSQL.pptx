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PostgreSQL 16 Advanced Indexing &amp; EXPLAIN Plans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0132A"/>
                </a:solidFill>
                <a:latin typeface="Segoe UI"/>
              </a:defRPr>
            </a:pPr>
            <a:r>
              <a:t>Presented By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22449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PostgreSQL 16.6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Advanced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Agenda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Advanced Indexing Techniques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EXPLAIN Plans for Optimization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Hands-On Exercise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Index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Index Types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B-Tree Index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Hash Index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Gin Index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Brin Index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CREATE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idx_btree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table_name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column_name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Index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Index Maintenance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Rebuild Index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Reorganize Index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Vacuum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REINDEX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TABLE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table_name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EXPLAIN Analyze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EXPLAIN Analyze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Analyze Query Plan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Check for Index Usage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Optimization Tips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EXPLAIN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SELECT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56B6C2"/>
                </a:solidFill>
                <a:latin typeface="Consolas"/>
              </a:rPr>
              <a:t>*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FROM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table_name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WHERE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column_name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56B6C2"/>
                </a:solidFill>
                <a:latin typeface="Consolas"/>
              </a:rPr>
              <a:t>=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98C379"/>
                </a:solidFill>
                <a:latin typeface="Consolas"/>
              </a:rPr>
              <a:t>'</a:t>
            </a:r>
            <a:r>
              <a:rPr sz="1900">
                <a:solidFill>
                  <a:srgbClr val="98C379"/>
                </a:solidFill>
                <a:latin typeface="Consolas"/>
              </a:rPr>
              <a:t>value</a:t>
            </a:r>
            <a:r>
              <a:rPr sz="1900">
                <a:solidFill>
                  <a:srgbClr val="98C379"/>
                </a:solidFill>
                <a:latin typeface="Consolas"/>
              </a:rPr>
              <a:t>'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Create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Create Index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CREATE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idx_name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table_name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column_name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Rebuild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Rebuild Index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REINDEX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TABLE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table_name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Vacuum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Vacuum Table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VACUUM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table_name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Index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Index Usage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 Scan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 Only Scan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 Only Seq Scan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EXPLAIN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SELECT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56B6C2"/>
                </a:solidFill>
                <a:latin typeface="Consolas"/>
              </a:rPr>
              <a:t>*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FROM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table_name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WHERE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column_name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56B6C2"/>
                </a:solidFill>
                <a:latin typeface="Consolas"/>
              </a:rPr>
              <a:t>=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98C379"/>
                </a:solidFill>
                <a:latin typeface="Consolas"/>
              </a:rPr>
              <a:t>'</a:t>
            </a:r>
            <a:r>
              <a:rPr sz="1900">
                <a:solidFill>
                  <a:srgbClr val="98C379"/>
                </a:solidFill>
                <a:latin typeface="Consolas"/>
              </a:rPr>
              <a:t>value</a:t>
            </a:r>
            <a:r>
              <a:rPr sz="1900">
                <a:solidFill>
                  <a:srgbClr val="98C379"/>
                </a:solidFill>
                <a:latin typeface="Consolas"/>
              </a:rPr>
              <a:t>'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Index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Index Selection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 Cardinality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 Selectivity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 Width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SELECT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index_name</a:t>
            </a:r>
            <a:r>
              <a:rPr sz="1700">
                <a:solidFill>
                  <a:srgbClr val="ABB2BF"/>
                </a:solidFill>
                <a:latin typeface="Consolas"/>
              </a:rPr>
              <a:t>,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index_cardinality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FROM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pg_indexes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WHERE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tablename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=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Index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Index Tuning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 Width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 Cardinality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 Selectivity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SELECT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index_name</a:t>
            </a:r>
            <a:r>
              <a:rPr sz="1700">
                <a:solidFill>
                  <a:srgbClr val="ABB2BF"/>
                </a:solidFill>
                <a:latin typeface="Consolas"/>
              </a:rPr>
              <a:t>,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index_cardinality</a:t>
            </a:r>
            <a:r>
              <a:rPr sz="1700">
                <a:solidFill>
                  <a:srgbClr val="ABB2BF"/>
                </a:solidFill>
                <a:latin typeface="Consolas"/>
              </a:rPr>
              <a:t>,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index_selectivity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FROM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pg_indexe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EXPLAIN Output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EXPLAIN Output Interpretation   •  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 Usage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Plan Cost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Plan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EXPLAIN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SELECT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56B6C2"/>
                </a:solidFill>
                <a:latin typeface="Consolas"/>
              </a:rPr>
              <a:t>*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FROM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table_name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WHERE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column_name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56B6C2"/>
                </a:solidFill>
                <a:latin typeface="Consolas"/>
              </a:rPr>
              <a:t>=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98C379"/>
                </a:solidFill>
                <a:latin typeface="Consolas"/>
              </a:rPr>
              <a:t>'</a:t>
            </a:r>
            <a:r>
              <a:rPr sz="1900">
                <a:solidFill>
                  <a:srgbClr val="98C379"/>
                </a:solidFill>
                <a:latin typeface="Consolas"/>
              </a:rPr>
              <a:t>value</a:t>
            </a:r>
            <a:r>
              <a:rPr sz="1900">
                <a:solidFill>
                  <a:srgbClr val="98C379"/>
                </a:solidFill>
                <a:latin typeface="Consolas"/>
              </a:rPr>
              <a:t>'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Optimize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Optimize Query   •   Slide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exercise_optimize.sql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EXPLAIN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SELECT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56B6C2"/>
                </a:solidFill>
                <a:latin typeface="Consolas"/>
              </a:rPr>
              <a:t>*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FROM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table_name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WHERE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column_name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56B6C2"/>
                </a:solidFill>
                <a:latin typeface="Consolas"/>
              </a:rPr>
              <a:t>=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98C379"/>
                </a:solidFill>
                <a:latin typeface="Consolas"/>
              </a:rPr>
              <a:t>'</a:t>
            </a:r>
            <a:r>
              <a:rPr sz="1900">
                <a:solidFill>
                  <a:srgbClr val="98C379"/>
                </a:solidFill>
                <a:latin typeface="Consolas"/>
              </a:rPr>
              <a:t>value</a:t>
            </a:r>
            <a:r>
              <a:rPr sz="1900">
                <a:solidFill>
                  <a:srgbClr val="98C379"/>
                </a:solidFill>
                <a:latin typeface="Consolas"/>
              </a:rPr>
              <a:t>'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Summary   •   Slide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Advanced Indexing Techniques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EXPLAIN Plans for Optimization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Regular Maintenance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Closing   •   Slide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Your Attention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and Answers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