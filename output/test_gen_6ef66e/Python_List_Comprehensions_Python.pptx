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Welcome students and set clear expectations for today's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List comprehensions are a powerful feature for creating lists in Python.</a:t>
            </a:r>
          </a:p>
          <a:p/>
          <a:p>
            <a:r>
              <a:t>Trainer Notes:</a:t>
            </a:r>
          </a:p>
          <a:p>
            <a:r>
              <a:t>Complete Runnable File (ex_python_s3_list_comprehensions):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List Comprehensions</a:t>
            </a:r>
          </a:p>
          <a:p>
            <a:r>
              <a:t>    message = "List Comprehensions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Let's see how list comprehensions work with a simple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List comprehensions can include conditions to filter items.</a:t>
            </a:r>
          </a:p>
          <a:p/>
          <a:p>
            <a:r>
              <a:t>Trainer Notes:</a:t>
            </a:r>
          </a:p>
          <a:p>
            <a:r>
              <a:t>Complete Runnable File (ex_python_s5_list_comprehensions_with):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List Comprehensions with Conditionals</a:t>
            </a:r>
          </a:p>
          <a:p>
            <a:r>
              <a:t>    message = "List Comprehensions with Conditionals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Let's see how list comprehensions work with conditions.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List comprehensions can be nested to create multi-dimensional lists.</a:t>
            </a:r>
          </a:p>
          <a:p/>
          <a:p>
            <a:r>
              <a:t>Trainer Notes:</a:t>
            </a:r>
          </a:p>
          <a:p>
            <a:r>
              <a:t>Complete Runnable File (ex_python_s7_nested_list_comprehensio):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Nested List Comprehensions</a:t>
            </a:r>
          </a:p>
          <a:p>
            <a:r>
              <a:t>    message = "Nested List Comprehensions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Let's see how nested list comprehensions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List comprehensions are a concise way to create lists, while for-loops offer more flexibility.</a:t>
            </a:r>
          </a:p>
          <a:p/>
          <a:p>
            <a:r>
              <a:t>Trainer Notes:</a:t>
            </a:r>
          </a:p>
          <a:p>
            <a:r>
              <a:t>Complete Runnable File (ex_python_s9_list_comprehensions_vs_f):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List Comprehensions vs. for-loops</a:t>
            </a:r>
          </a:p>
          <a:p>
            <a:r>
              <a:t>    message = "List Comprehensions vs. for-loops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Try creating a list of odd numbers using list comprehensions.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Review the key points covered in today's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Thank you for your attention and have a great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28800"/>
            <a:ext cx="9445752" cy="16459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40480"/>
            <a:ext cx="9445752" cy="10972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709928"/>
            <a:ext cx="9445752" cy="42976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Python List Comprehensions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599" y="5397500"/>
            <a:ext cx="9448799" cy="330200"/>
          </a:xfrm>
        </p:spPr>
        <p:txBody>
          <a:bodyPr wrap="square"/>
          <a:lstStyle/>
          <a:p>
            <a:pPr algn="l">
              <a:defRPr sz="3000" b="1">
                <a:solidFill>
                  <a:srgbClr val="002147"/>
                </a:solidFill>
                <a:latin typeface="Segoe UI"/>
              </a:defRPr>
            </a:pPr>
            <a:r>
              <a:t>Presented By Prof. Sharma</a:t>
            </a:r>
          </a:p>
          <a:p>
            <a:pPr algn="l">
              <a:defRPr sz="1600">
                <a:solidFill>
                  <a:srgbClr val="64748B"/>
                </a:solidFill>
                <a:latin typeface="Segoe UI"/>
              </a:defRPr>
            </a:pPr>
            <a:r>
              <a:t>DPU Course Material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099" y="1758949"/>
            <a:ext cx="9067799" cy="88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Introduction to List Comprehensions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Creating Lists with Comprehensions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List Comprehensions vs. for-loops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List Comprehensions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A concise way to create lists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Syntax: [expression for item in iterable if condition]</a:t>
            </a:r>
          </a:p>
          <a:p>
            <a:pPr>
              <a:defRPr sz="2800" i="1">
                <a:solidFill>
                  <a:srgbClr val="002147"/>
                </a:solidFill>
                <a:latin typeface="Segoe UI"/>
              </a:defRPr>
            </a:pPr>
            <a:r>
              <a:t>Exercise Reference: exercise1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List Comprehensions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List Comprehensions Executed in Python 3.12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Example: Squares of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Create a list of squares from 1 to</a:t>
            </a:r>
          </a:p>
          <a:p>
            <a:pPr>
              <a:defRPr sz="2800" i="1">
                <a:solidFill>
                  <a:srgbClr val="002147"/>
                </a:solidFill>
                <a:latin typeface="Segoe UI"/>
              </a:defRPr>
            </a:pPr>
            <a:r>
              <a:t>Exercise Reference: exercise1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nums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[</a:t>
            </a:r>
            <a:r>
              <a:rPr sz="1400">
                <a:solidFill>
                  <a:srgbClr val="D19A66"/>
                </a:solidFill>
                <a:latin typeface="Consolas"/>
              </a:rPr>
              <a:t>1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D19A66"/>
                </a:solidFill>
                <a:latin typeface="Consolas"/>
              </a:rPr>
              <a:t>2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D19A66"/>
                </a:solidFill>
                <a:latin typeface="Consolas"/>
              </a:rPr>
              <a:t>3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D19A66"/>
                </a:solidFill>
                <a:latin typeface="Consolas"/>
              </a:rPr>
              <a:t>4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D19A66"/>
                </a:solidFill>
                <a:latin typeface="Consolas"/>
              </a:rPr>
              <a:t>5</a:t>
            </a:r>
            <a:r>
              <a:rPr sz="1400">
                <a:solidFill>
                  <a:srgbClr val="ABB2BF"/>
                </a:solidFill>
                <a:latin typeface="Consolas"/>
              </a:rPr>
              <a:t>]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squares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[</a:t>
            </a:r>
            <a:r>
              <a:rPr sz="1400">
                <a:solidFill>
                  <a:srgbClr val="F0F4FA"/>
                </a:solidFill>
                <a:latin typeface="Consolas"/>
              </a:rPr>
              <a:t>x</a:t>
            </a:r>
            <a:r>
              <a:rPr sz="1400">
                <a:solidFill>
                  <a:srgbClr val="56B6C2"/>
                </a:solidFill>
                <a:latin typeface="Consolas"/>
              </a:rPr>
              <a:t>*</a:t>
            </a:r>
            <a:r>
              <a:rPr sz="1400">
                <a:solidFill>
                  <a:srgbClr val="56B6C2"/>
                </a:solidFill>
                <a:latin typeface="Consolas"/>
              </a:rPr>
              <a:t>*</a:t>
            </a:r>
            <a:r>
              <a:rPr sz="1400">
                <a:solidFill>
                  <a:srgbClr val="D19A66"/>
                </a:solidFill>
                <a:latin typeface="Consolas"/>
              </a:rPr>
              <a:t>2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for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x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in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nums</a:t>
            </a:r>
            <a:r>
              <a:rPr sz="1400">
                <a:solidFill>
                  <a:srgbClr val="ABB2BF"/>
                </a:solidFill>
                <a:latin typeface="Consolas"/>
              </a:rPr>
              <a:t>]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squares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List Comprehensions with Conditionals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Include only if condition is met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Syntax: [expression for item in iterable if condition]</a:t>
            </a:r>
          </a:p>
          <a:p>
            <a:pPr>
              <a:defRPr sz="2800" i="1">
                <a:solidFill>
                  <a:srgbClr val="002147"/>
                </a:solidFill>
                <a:latin typeface="Segoe UI"/>
              </a:defRPr>
            </a:pPr>
            <a:r>
              <a:t>Exercise Reference: exercise1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List Comprehensions with Conditionals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List Comprehensions with Conditionals Executed...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Example: Squares of Even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Create a list of squares for even numbers</a:t>
            </a:r>
          </a:p>
          <a:p>
            <a:pPr>
              <a:defRPr sz="2800" i="1">
                <a:solidFill>
                  <a:srgbClr val="002147"/>
                </a:solidFill>
                <a:latin typeface="Segoe UI"/>
              </a:defRPr>
            </a:pPr>
            <a:r>
              <a:t>Exercise Reference: exercise1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nums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[</a:t>
            </a:r>
            <a:r>
              <a:rPr sz="1400">
                <a:solidFill>
                  <a:srgbClr val="D19A66"/>
                </a:solidFill>
                <a:latin typeface="Consolas"/>
              </a:rPr>
              <a:t>1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D19A66"/>
                </a:solidFill>
                <a:latin typeface="Consolas"/>
              </a:rPr>
              <a:t>2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D19A66"/>
                </a:solidFill>
                <a:latin typeface="Consolas"/>
              </a:rPr>
              <a:t>3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D19A66"/>
                </a:solidFill>
                <a:latin typeface="Consolas"/>
              </a:rPr>
              <a:t>4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D19A66"/>
                </a:solidFill>
                <a:latin typeface="Consolas"/>
              </a:rPr>
              <a:t>5</a:t>
            </a:r>
            <a:r>
              <a:rPr sz="1400">
                <a:solidFill>
                  <a:srgbClr val="ABB2BF"/>
                </a:solidFill>
                <a:latin typeface="Consolas"/>
              </a:rPr>
              <a:t>]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even_squares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[</a:t>
            </a:r>
            <a:r>
              <a:rPr sz="1400">
                <a:solidFill>
                  <a:srgbClr val="F0F4FA"/>
                </a:solidFill>
                <a:latin typeface="Consolas"/>
              </a:rPr>
              <a:t>x</a:t>
            </a:r>
            <a:r>
              <a:rPr sz="1400">
                <a:solidFill>
                  <a:srgbClr val="56B6C2"/>
                </a:solidFill>
                <a:latin typeface="Consolas"/>
              </a:rPr>
              <a:t>*</a:t>
            </a:r>
            <a:r>
              <a:rPr sz="1400">
                <a:solidFill>
                  <a:srgbClr val="56B6C2"/>
                </a:solidFill>
                <a:latin typeface="Consolas"/>
              </a:rPr>
              <a:t>*</a:t>
            </a:r>
            <a:r>
              <a:rPr sz="1400">
                <a:solidFill>
                  <a:srgbClr val="D19A66"/>
                </a:solidFill>
                <a:latin typeface="Consolas"/>
              </a:rPr>
              <a:t>2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for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x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in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nums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if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x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%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D19A66"/>
                </a:solidFill>
                <a:latin typeface="Consolas"/>
              </a:rPr>
              <a:t>2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D19A66"/>
                </a:solidFill>
                <a:latin typeface="Consolas"/>
              </a:rPr>
              <a:t>0</a:t>
            </a:r>
            <a:r>
              <a:rPr sz="1400">
                <a:solidFill>
                  <a:srgbClr val="ABB2BF"/>
                </a:solidFill>
                <a:latin typeface="Consolas"/>
              </a:rPr>
              <a:t>]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even_squares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Nested List Comprehensions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Create lists within lists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Syntax: [inner_list for item in iterable]</a:t>
            </a:r>
          </a:p>
          <a:p>
            <a:pPr>
              <a:defRPr sz="2800" i="1">
                <a:solidFill>
                  <a:srgbClr val="002147"/>
                </a:solidFill>
                <a:latin typeface="Segoe UI"/>
              </a:defRPr>
            </a:pPr>
            <a:r>
              <a:t>Exercise Reference: exercise1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Nested List Comprehensions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Nested List Comprehensions Executed in Python 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Example: Flattening a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Create a flattened list from a 2D matrix</a:t>
            </a:r>
          </a:p>
          <a:p>
            <a:pPr>
              <a:defRPr sz="2800" i="1">
                <a:solidFill>
                  <a:srgbClr val="002147"/>
                </a:solidFill>
                <a:latin typeface="Segoe UI"/>
              </a:defRPr>
            </a:pPr>
            <a:r>
              <a:t>Exercise Reference: exercise1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matrix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[</a:t>
            </a:r>
            <a:r>
              <a:rPr sz="1400">
                <a:solidFill>
                  <a:srgbClr val="ABB2BF"/>
                </a:solidFill>
                <a:latin typeface="Consolas"/>
              </a:rPr>
              <a:t>[</a:t>
            </a:r>
            <a:r>
              <a:rPr sz="1400">
                <a:solidFill>
                  <a:srgbClr val="D19A66"/>
                </a:solidFill>
                <a:latin typeface="Consolas"/>
              </a:rPr>
              <a:t>1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D19A66"/>
                </a:solidFill>
                <a:latin typeface="Consolas"/>
              </a:rPr>
              <a:t>2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D19A66"/>
                </a:solidFill>
                <a:latin typeface="Consolas"/>
              </a:rPr>
              <a:t>3</a:t>
            </a:r>
            <a:r>
              <a:rPr sz="1400">
                <a:solidFill>
                  <a:srgbClr val="ABB2BF"/>
                </a:solidFill>
                <a:latin typeface="Consolas"/>
              </a:rPr>
              <a:t>]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[</a:t>
            </a:r>
            <a:r>
              <a:rPr sz="1400">
                <a:solidFill>
                  <a:srgbClr val="D19A66"/>
                </a:solidFill>
                <a:latin typeface="Consolas"/>
              </a:rPr>
              <a:t>4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D19A66"/>
                </a:solidFill>
                <a:latin typeface="Consolas"/>
              </a:rPr>
              <a:t>5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D19A66"/>
                </a:solidFill>
                <a:latin typeface="Consolas"/>
              </a:rPr>
              <a:t>6</a:t>
            </a:r>
            <a:r>
              <a:rPr sz="1400">
                <a:solidFill>
                  <a:srgbClr val="ABB2BF"/>
                </a:solidFill>
                <a:latin typeface="Consolas"/>
              </a:rPr>
              <a:t>]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[</a:t>
            </a:r>
            <a:r>
              <a:rPr sz="1400">
                <a:solidFill>
                  <a:srgbClr val="D19A66"/>
                </a:solidFill>
                <a:latin typeface="Consolas"/>
              </a:rPr>
              <a:t>7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D19A66"/>
                </a:solidFill>
                <a:latin typeface="Consolas"/>
              </a:rPr>
              <a:t>8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D19A66"/>
                </a:solidFill>
                <a:latin typeface="Consolas"/>
              </a:rPr>
              <a:t>9</a:t>
            </a:r>
            <a:r>
              <a:rPr sz="1400">
                <a:solidFill>
                  <a:srgbClr val="ABB2BF"/>
                </a:solidFill>
                <a:latin typeface="Consolas"/>
              </a:rPr>
              <a:t>]</a:t>
            </a:r>
            <a:r>
              <a:rPr sz="1400">
                <a:solidFill>
                  <a:srgbClr val="ABB2BF"/>
                </a:solidFill>
                <a:latin typeface="Consolas"/>
              </a:rPr>
              <a:t>]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flattened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[</a:t>
            </a:r>
            <a:r>
              <a:rPr sz="1400">
                <a:solidFill>
                  <a:srgbClr val="F0F4FA"/>
                </a:solidFill>
                <a:latin typeface="Consolas"/>
              </a:rPr>
              <a:t>num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for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row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in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matrix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for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num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in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row</a:t>
            </a:r>
            <a:r>
              <a:rPr sz="1400">
                <a:solidFill>
                  <a:srgbClr val="ABB2BF"/>
                </a:solidFill>
                <a:latin typeface="Consolas"/>
              </a:rPr>
              <a:t>]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flattened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List Comprehensions vs. for-loops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List comprehensions are more concise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for-loops are more flexible</a:t>
            </a:r>
          </a:p>
          <a:p>
            <a:pPr>
              <a:defRPr sz="2800" i="1">
                <a:solidFill>
                  <a:srgbClr val="002147"/>
                </a:solidFill>
                <a:latin typeface="Segoe UI"/>
              </a:defRPr>
            </a:pPr>
            <a:r>
              <a:t>Exercise Reference: exercise1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List Comprehensions vs. for-loops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List Comprehensions vs. for-loops Executed in 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Exercise: Creating a List of Odd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Create a list of odd numbers from 1</a:t>
            </a:r>
          </a:p>
          <a:p>
            <a:pPr>
              <a:defRPr sz="2800" i="1">
                <a:solidFill>
                  <a:srgbClr val="002147"/>
                </a:solidFill>
                <a:latin typeface="Segoe UI"/>
              </a:defRPr>
            </a:pPr>
            <a:r>
              <a:t>Exercise Reference: exercise1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nums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list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E5C07B"/>
                </a:solidFill>
                <a:latin typeface="Consolas"/>
              </a:rPr>
              <a:t>range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D19A66"/>
                </a:solidFill>
                <a:latin typeface="Consolas"/>
              </a:rPr>
              <a:t>1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D19A66"/>
                </a:solidFill>
                <a:latin typeface="Consolas"/>
              </a:rPr>
              <a:t>11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odd_nums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[</a:t>
            </a:r>
            <a:r>
              <a:rPr sz="1400">
                <a:solidFill>
                  <a:srgbClr val="F0F4FA"/>
                </a:solidFill>
                <a:latin typeface="Consolas"/>
              </a:rPr>
              <a:t>x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for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x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in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nums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if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x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%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D19A66"/>
                </a:solidFill>
                <a:latin typeface="Consolas"/>
              </a:rPr>
              <a:t>2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!=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D19A66"/>
                </a:solidFill>
                <a:latin typeface="Consolas"/>
              </a:rPr>
              <a:t>0</a:t>
            </a:r>
            <a:r>
              <a:rPr sz="1400">
                <a:solidFill>
                  <a:srgbClr val="ABB2BF"/>
                </a:solidFill>
                <a:latin typeface="Consolas"/>
              </a:rPr>
              <a:t>]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odd_nums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099" y="1758949"/>
            <a:ext cx="9067799" cy="88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List comprehensions are concise and readable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Nested comprehensions create multi-dimensional lists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for-loops offer more flexibility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099" y="1758949"/>
            <a:ext cx="9067799" cy="88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Thank you for attending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Questions are welcome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References: Python official documentation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