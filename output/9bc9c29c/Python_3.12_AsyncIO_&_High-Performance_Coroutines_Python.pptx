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999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DPU_backgroun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981199" y="1079500"/>
            <a:ext cx="8229599" cy="438149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4400" b="1">
                <a:solidFill>
                  <a:srgbClr val="00132A"/>
                </a:solidFill>
                <a:latin typeface="Arial"/>
              </a:defRPr>
            </a:pPr>
            <a:r>
              <a:t>Python 3.12 AsyncIO &amp; High-Performance Coroutines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2235199" y="5556250"/>
            <a:ext cx="7721599" cy="3302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021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3000" b="1">
                <a:solidFill>
                  <a:srgbClr val="00132A"/>
                </a:solidFill>
                <a:latin typeface="Segoe UI"/>
              </a:defRPr>
            </a:pPr>
            <a:r>
              <a:t>Presented By Samruddhi Khade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235199" y="1822449"/>
            <a:ext cx="7721599" cy="57150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l">
              <a:spcAft>
                <a:spcPts val="1200"/>
              </a:spcAft>
              <a:defRPr sz="3000">
                <a:solidFill>
                  <a:srgbClr val="0F172A"/>
                </a:solidFill>
                <a:latin typeface="Segoe UI"/>
              </a:defRPr>
            </a:pPr>
            <a:r>
              <a:t>•  Subject: Python 3.12.8</a:t>
            </a:r>
          </a:p>
          <a:p>
            <a:pPr algn="l">
              <a:spcAft>
                <a:spcPts val="1200"/>
              </a:spcAft>
              <a:defRPr sz="3000">
                <a:solidFill>
                  <a:srgbClr val="0F172A"/>
                </a:solidFill>
                <a:latin typeface="Segoe UI"/>
              </a:defRPr>
            </a:pPr>
            <a:r>
              <a:t>•  Level: Beginner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DPU_backgroun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981199" y="1079500"/>
            <a:ext cx="8229599" cy="438149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4400" b="1">
                <a:solidFill>
                  <a:srgbClr val="00132A"/>
                </a:solidFill>
                <a:latin typeface="Arial"/>
              </a:defRPr>
            </a:pPr>
            <a:r>
              <a:t>Python 3.12 AsyncIO &amp; High-Performance Coroutines: Part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981199" y="6095999"/>
            <a:ext cx="8229599" cy="152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>
                <a:solidFill>
                  <a:srgbClr val="64748B"/>
                </a:solidFill>
                <a:latin typeface="Segoe UI"/>
              </a:defRPr>
            </a:pPr>
            <a:r>
              <a:t>DPU   •   Python 3.12 AsyncIO &amp; High-Performance Coroutines: Part 2   •   Slide 2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171699" y="1758949"/>
            <a:ext cx="7848599" cy="190499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ctr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DPU_backgroun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981199" y="1079500"/>
            <a:ext cx="8229599" cy="438149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4400" b="1">
                <a:solidFill>
                  <a:srgbClr val="00132A"/>
                </a:solidFill>
                <a:latin typeface="Arial"/>
              </a:defRPr>
            </a:pPr>
            <a:r>
              <a:t>AsyncIO Basics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981199" y="6095999"/>
            <a:ext cx="8229599" cy="152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>
                <a:solidFill>
                  <a:srgbClr val="64748B"/>
                </a:solidFill>
                <a:latin typeface="Segoe UI"/>
              </a:defRPr>
            </a:pPr>
            <a:r>
              <a:t>DPU   •   AsyncIO Basics   •   Slide 3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981199" y="1695449"/>
            <a:ext cx="3505199" cy="215900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l">
              <a:spcAft>
                <a:spcPts val="1200"/>
              </a:spcAft>
              <a:defRPr sz="3000">
                <a:solidFill>
                  <a:srgbClr val="0F172A"/>
                </a:solidFill>
                <a:latin typeface="Segoe UI"/>
              </a:defRPr>
            </a:pPr>
            <a:r>
              <a:t>•  AsyncIO allows writing asynchronous code</a:t>
            </a:r>
          </a:p>
          <a:p>
            <a:pPr algn="l">
              <a:spcAft>
                <a:spcPts val="1200"/>
              </a:spcAft>
              <a:defRPr sz="3000">
                <a:solidFill>
                  <a:srgbClr val="0F172A"/>
                </a:solidFill>
                <a:latin typeface="Segoe UI"/>
              </a:defRPr>
            </a:pPr>
            <a:r>
              <a:t>•  Uses coroutines for non-blocking I/O</a:t>
            </a:r>
          </a:p>
          <a:p>
            <a:pPr>
              <a:defRPr sz="2600" i="1">
                <a:solidFill>
                  <a:srgbClr val="002147"/>
                </a:solidFill>
              </a:defRPr>
            </a:pPr>
            <a:r>
              <a:t>Reference: exercise_1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740399" y="1695449"/>
            <a:ext cx="4470399" cy="2159000"/>
          </a:xfrm>
          <a:prstGeom prst="roundRect">
            <a:avLst/>
          </a:prstGeom>
          <a:solidFill>
            <a:srgbClr val="1E1E2E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ctr">
              <a:spcAft>
                <a:spcPts val="800"/>
              </a:spcAft>
              <a:defRPr sz="1200">
                <a:solidFill>
                  <a:srgbClr val="60A5FA"/>
                </a:solidFill>
                <a:latin typeface="Consolas"/>
              </a:defRPr>
            </a:pPr>
            <a:r>
              <a:t>// Language: PYTHON 3.12.8</a:t>
            </a:r>
          </a:p>
          <a:p>
            <a:pPr>
              <a:spcAft>
                <a:spcPts val="200"/>
              </a:spcAft>
              <a:defRPr sz="2000">
                <a:latin typeface="Consolas"/>
              </a:defRPr>
            </a:pPr>
            <a:r>
              <a:rPr sz="2000">
                <a:solidFill>
                  <a:srgbClr val="C678DD"/>
                </a:solidFill>
                <a:latin typeface="Consolas"/>
              </a:rPr>
              <a:t>async</a:t>
            </a:r>
            <a:r>
              <a:rPr sz="2000">
                <a:solidFill>
                  <a:srgbClr val="F0F4FA"/>
                </a:solidFill>
                <a:latin typeface="Consolas"/>
              </a:rPr>
              <a:t> </a:t>
            </a:r>
            <a:r>
              <a:rPr sz="2000">
                <a:solidFill>
                  <a:srgbClr val="C678DD"/>
                </a:solidFill>
                <a:latin typeface="Consolas"/>
              </a:rPr>
              <a:t>def</a:t>
            </a:r>
            <a:r>
              <a:rPr sz="2000">
                <a:solidFill>
                  <a:srgbClr val="F0F4FA"/>
                </a:solidFill>
                <a:latin typeface="Consolas"/>
              </a:rPr>
              <a:t> </a:t>
            </a:r>
            <a:r>
              <a:rPr sz="2000">
                <a:solidFill>
                  <a:srgbClr val="61AFEF"/>
                </a:solidFill>
                <a:latin typeface="Consolas"/>
              </a:rPr>
              <a:t>simple_coroutine</a:t>
            </a:r>
            <a:r>
              <a:rPr sz="2000">
                <a:solidFill>
                  <a:srgbClr val="ABB2BF"/>
                </a:solidFill>
                <a:latin typeface="Consolas"/>
              </a:rPr>
              <a:t>(</a:t>
            </a:r>
            <a:r>
              <a:rPr sz="2000">
                <a:solidFill>
                  <a:srgbClr val="ABB2BF"/>
                </a:solidFill>
                <a:latin typeface="Consolas"/>
              </a:rPr>
              <a:t>)</a:t>
            </a:r>
            <a:r>
              <a:rPr sz="2000">
                <a:solidFill>
                  <a:srgbClr val="ABB2BF"/>
                </a:solidFill>
                <a:latin typeface="Consolas"/>
              </a:rPr>
              <a:t>:</a:t>
            </a:r>
          </a:p>
          <a:p>
            <a:pPr>
              <a:spcAft>
                <a:spcPts val="200"/>
              </a:spcAft>
              <a:defRPr sz="2000">
                <a:latin typeface="Consolas"/>
              </a:defRPr>
            </a:pPr>
            <a:r>
              <a:rPr sz="2000">
                <a:solidFill>
                  <a:srgbClr val="E5C07B"/>
                </a:solidFill>
                <a:latin typeface="Consolas"/>
              </a:rPr>
              <a:t>print</a:t>
            </a:r>
            <a:r>
              <a:rPr sz="2000">
                <a:solidFill>
                  <a:srgbClr val="ABB2BF"/>
                </a:solidFill>
                <a:latin typeface="Consolas"/>
              </a:rPr>
              <a:t>(</a:t>
            </a:r>
            <a:r>
              <a:rPr sz="2000">
                <a:solidFill>
                  <a:srgbClr val="98C379"/>
                </a:solidFill>
                <a:latin typeface="Consolas"/>
              </a:rPr>
              <a:t>'</a:t>
            </a:r>
            <a:r>
              <a:rPr sz="2000">
                <a:solidFill>
                  <a:srgbClr val="98C379"/>
                </a:solidFill>
                <a:latin typeface="Consolas"/>
              </a:rPr>
              <a:t>Coroutine started</a:t>
            </a:r>
            <a:r>
              <a:rPr sz="2000">
                <a:solidFill>
                  <a:srgbClr val="98C379"/>
                </a:solidFill>
                <a:latin typeface="Consolas"/>
              </a:rPr>
              <a:t>'</a:t>
            </a:r>
            <a:r>
              <a:rPr sz="2000">
                <a:solidFill>
                  <a:srgbClr val="ABB2BF"/>
                </a:solidFill>
                <a:latin typeface="Consolas"/>
              </a:rPr>
              <a:t>)</a:t>
            </a:r>
          </a:p>
          <a:p>
            <a:pPr>
              <a:spcAft>
                <a:spcPts val="200"/>
              </a:spcAft>
              <a:defRPr sz="2000">
                <a:latin typeface="Consolas"/>
              </a:defRPr>
            </a:pPr>
            <a:r>
              <a:rPr sz="2000">
                <a:solidFill>
                  <a:srgbClr val="C678DD"/>
                </a:solidFill>
                <a:latin typeface="Consolas"/>
              </a:rPr>
              <a:t>await</a:t>
            </a:r>
            <a:r>
              <a:rPr sz="2000">
                <a:solidFill>
                  <a:srgbClr val="F0F4FA"/>
                </a:solidFill>
                <a:latin typeface="Consolas"/>
              </a:rPr>
              <a:t> </a:t>
            </a:r>
            <a:r>
              <a:rPr sz="2000">
                <a:solidFill>
                  <a:srgbClr val="F0F4FA"/>
                </a:solidFill>
                <a:latin typeface="Consolas"/>
              </a:rPr>
              <a:t>asyncio</a:t>
            </a:r>
            <a:r>
              <a:rPr sz="2000">
                <a:solidFill>
                  <a:srgbClr val="56B6C2"/>
                </a:solidFill>
                <a:latin typeface="Consolas"/>
              </a:rPr>
              <a:t>.</a:t>
            </a:r>
            <a:r>
              <a:rPr sz="2000">
                <a:solidFill>
                  <a:srgbClr val="F0F4FA"/>
                </a:solidFill>
                <a:latin typeface="Consolas"/>
              </a:rPr>
              <a:t>sleep</a:t>
            </a:r>
            <a:r>
              <a:rPr sz="2000">
                <a:solidFill>
                  <a:srgbClr val="ABB2BF"/>
                </a:solidFill>
                <a:latin typeface="Consolas"/>
              </a:rPr>
              <a:t>(</a:t>
            </a:r>
            <a:r>
              <a:rPr sz="2000">
                <a:solidFill>
                  <a:srgbClr val="D19A66"/>
                </a:solidFill>
                <a:latin typeface="Consolas"/>
              </a:rPr>
              <a:t>1</a:t>
            </a:r>
            <a:r>
              <a:rPr sz="2000">
                <a:solidFill>
                  <a:srgbClr val="ABB2BF"/>
                </a:solidFill>
                <a:latin typeface="Consolas"/>
              </a:rPr>
              <a:t>)</a:t>
            </a:r>
          </a:p>
          <a:p>
            <a:pPr>
              <a:spcAft>
                <a:spcPts val="200"/>
              </a:spcAft>
              <a:defRPr sz="2000">
                <a:latin typeface="Consolas"/>
              </a:defRPr>
            </a:pPr>
            <a:r>
              <a:rPr sz="2000">
                <a:solidFill>
                  <a:srgbClr val="E5C07B"/>
                </a:solidFill>
                <a:latin typeface="Consolas"/>
              </a:rPr>
              <a:t>print</a:t>
            </a:r>
            <a:r>
              <a:rPr sz="2000">
                <a:solidFill>
                  <a:srgbClr val="ABB2BF"/>
                </a:solidFill>
                <a:latin typeface="Consolas"/>
              </a:rPr>
              <a:t>(</a:t>
            </a:r>
            <a:r>
              <a:rPr sz="2000">
                <a:solidFill>
                  <a:srgbClr val="98C379"/>
                </a:solidFill>
                <a:latin typeface="Consolas"/>
              </a:rPr>
              <a:t>'</a:t>
            </a:r>
            <a:r>
              <a:rPr sz="2000">
                <a:solidFill>
                  <a:srgbClr val="98C379"/>
                </a:solidFill>
                <a:latin typeface="Consolas"/>
              </a:rPr>
              <a:t>Coroutine finished</a:t>
            </a:r>
            <a:r>
              <a:rPr sz="2000">
                <a:solidFill>
                  <a:srgbClr val="98C379"/>
                </a:solidFill>
                <a:latin typeface="Consolas"/>
              </a:rPr>
              <a:t>'</a:t>
            </a:r>
            <a:r>
              <a:rPr sz="2000">
                <a:solidFill>
                  <a:srgbClr val="ABB2BF"/>
                </a:solidFill>
                <a:latin typeface="Consolas"/>
              </a:rPr>
              <a:t>)</a:t>
            </a:r>
          </a:p>
          <a:p>
            <a:pPr>
              <a:spcAft>
                <a:spcPts val="200"/>
              </a:spcAft>
              <a:defRPr sz="2000">
                <a:latin typeface="Consolas"/>
              </a:defRPr>
            </a:pPr>
            <a:r>
              <a:rPr sz="2000">
                <a:solidFill>
                  <a:srgbClr val="F0F4FA"/>
                </a:solidFill>
                <a:latin typeface="Consolas"/>
              </a:rPr>
              <a:t>asyncio</a:t>
            </a:r>
            <a:r>
              <a:rPr sz="2000">
                <a:solidFill>
                  <a:srgbClr val="56B6C2"/>
                </a:solidFill>
                <a:latin typeface="Consolas"/>
              </a:rPr>
              <a:t>.</a:t>
            </a:r>
            <a:r>
              <a:rPr sz="2000">
                <a:solidFill>
                  <a:srgbClr val="F0F4FA"/>
                </a:solidFill>
                <a:latin typeface="Consolas"/>
              </a:rPr>
              <a:t>run</a:t>
            </a:r>
            <a:r>
              <a:rPr sz="2000">
                <a:solidFill>
                  <a:srgbClr val="ABB2BF"/>
                </a:solidFill>
                <a:latin typeface="Consolas"/>
              </a:rPr>
              <a:t>(</a:t>
            </a:r>
            <a:r>
              <a:rPr sz="2000">
                <a:solidFill>
                  <a:srgbClr val="F0F4FA"/>
                </a:solidFill>
                <a:latin typeface="Consolas"/>
              </a:rPr>
              <a:t>simple_coroutine</a:t>
            </a:r>
            <a:r>
              <a:rPr sz="2000">
                <a:solidFill>
                  <a:srgbClr val="ABB2BF"/>
                </a:solidFill>
                <a:latin typeface="Consolas"/>
              </a:rPr>
              <a:t>(</a:t>
            </a:r>
            <a:r>
              <a:rPr sz="2000">
                <a:solidFill>
                  <a:srgbClr val="ABB2BF"/>
                </a:solidFill>
                <a:latin typeface="Consolas"/>
              </a:rPr>
              <a:t>)</a:t>
            </a:r>
            <a:r>
              <a:rPr sz="2000">
                <a:solidFill>
                  <a:srgbClr val="ABB2BF"/>
                </a:solidFill>
                <a:latin typeface="Consolas"/>
              </a:rPr>
              <a:t>)</a:t>
            </a:r>
          </a:p>
          <a:p>
            <a:pPr>
              <a:spcBef>
                <a:spcPts val="1200"/>
              </a:spcBef>
            </a:pPr>
            <a:r>
              <a:rPr sz="1800" b="1">
                <a:solidFill>
                  <a:srgbClr val="4ADE80"/>
                </a:solidFill>
                <a:latin typeface="Consolas"/>
              </a:rPr>
              <a:t>Expected Output: </a:t>
            </a:r>
            <a:r>
              <a:rPr sz="1800">
                <a:solidFill>
                  <a:srgbClr val="E2E8F0"/>
                </a:solidFill>
                <a:latin typeface="Consolas"/>
              </a:rPr>
              <a:t>Execution verified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DPU_backgroun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981199" y="1079500"/>
            <a:ext cx="8229599" cy="438149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4400" b="1">
                <a:solidFill>
                  <a:srgbClr val="00132A"/>
                </a:solidFill>
                <a:latin typeface="Arial"/>
              </a:defRPr>
            </a:pPr>
            <a:r>
              <a:t>Coroutines and I/O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981199" y="6095999"/>
            <a:ext cx="8229599" cy="152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>
                <a:solidFill>
                  <a:srgbClr val="64748B"/>
                </a:solidFill>
                <a:latin typeface="Segoe UI"/>
              </a:defRPr>
            </a:pPr>
            <a:r>
              <a:t>DPU   •   Coroutines and I/O   •   Slide 4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981199" y="1695449"/>
            <a:ext cx="3505199" cy="215900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l">
              <a:spcAft>
                <a:spcPts val="1200"/>
              </a:spcAft>
              <a:defRPr sz="3000">
                <a:solidFill>
                  <a:srgbClr val="0F172A"/>
                </a:solidFill>
                <a:latin typeface="Segoe UI"/>
              </a:defRPr>
            </a:pPr>
            <a:r>
              <a:t>•  Coroutines handle I/O operations asynchronously</a:t>
            </a:r>
          </a:p>
          <a:p>
            <a:pPr algn="l">
              <a:spcAft>
                <a:spcPts val="1200"/>
              </a:spcAft>
              <a:defRPr sz="3000">
                <a:solidFill>
                  <a:srgbClr val="0F172A"/>
                </a:solidFill>
                <a:latin typeface="Segoe UI"/>
              </a:defRPr>
            </a:pPr>
            <a:r>
              <a:t>•  Example: Reading from a file</a:t>
            </a:r>
          </a:p>
          <a:p>
            <a:pPr>
              <a:defRPr sz="2600" i="1">
                <a:solidFill>
                  <a:srgbClr val="002147"/>
                </a:solidFill>
              </a:defRPr>
            </a:pPr>
            <a:r>
              <a:t>Reference: exercise_2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740399" y="1695449"/>
            <a:ext cx="4470399" cy="2159000"/>
          </a:xfrm>
          <a:prstGeom prst="roundRect">
            <a:avLst/>
          </a:prstGeom>
          <a:solidFill>
            <a:srgbClr val="1E1E2E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ctr">
              <a:spcAft>
                <a:spcPts val="800"/>
              </a:spcAft>
              <a:defRPr sz="1200">
                <a:solidFill>
                  <a:srgbClr val="60A5FA"/>
                </a:solidFill>
                <a:latin typeface="Consolas"/>
              </a:defRPr>
            </a:pPr>
            <a:r>
              <a:t>// Language: PYTHON 3.12.8</a:t>
            </a:r>
          </a:p>
          <a:p>
            <a:pPr>
              <a:spcAft>
                <a:spcPts val="200"/>
              </a:spcAft>
              <a:defRPr sz="2000">
                <a:latin typeface="Consolas"/>
              </a:defRPr>
            </a:pPr>
            <a:r>
              <a:rPr sz="2000">
                <a:solidFill>
                  <a:srgbClr val="C678DD"/>
                </a:solidFill>
                <a:latin typeface="Consolas"/>
              </a:rPr>
              <a:t>async</a:t>
            </a:r>
            <a:r>
              <a:rPr sz="2000">
                <a:solidFill>
                  <a:srgbClr val="F0F4FA"/>
                </a:solidFill>
                <a:latin typeface="Consolas"/>
              </a:rPr>
              <a:t> </a:t>
            </a:r>
            <a:r>
              <a:rPr sz="2000">
                <a:solidFill>
                  <a:srgbClr val="C678DD"/>
                </a:solidFill>
                <a:latin typeface="Consolas"/>
              </a:rPr>
              <a:t>def</a:t>
            </a:r>
            <a:r>
              <a:rPr sz="2000">
                <a:solidFill>
                  <a:srgbClr val="F0F4FA"/>
                </a:solidFill>
                <a:latin typeface="Consolas"/>
              </a:rPr>
              <a:t> </a:t>
            </a:r>
            <a:r>
              <a:rPr sz="2000">
                <a:solidFill>
                  <a:srgbClr val="61AFEF"/>
                </a:solidFill>
                <a:latin typeface="Consolas"/>
              </a:rPr>
              <a:t>read_file</a:t>
            </a:r>
            <a:r>
              <a:rPr sz="2000">
                <a:solidFill>
                  <a:srgbClr val="ABB2BF"/>
                </a:solidFill>
                <a:latin typeface="Consolas"/>
              </a:rPr>
              <a:t>(</a:t>
            </a:r>
            <a:r>
              <a:rPr sz="2000">
                <a:solidFill>
                  <a:srgbClr val="F0F4FA"/>
                </a:solidFill>
                <a:latin typeface="Consolas"/>
              </a:rPr>
              <a:t>file_path</a:t>
            </a:r>
            <a:r>
              <a:rPr sz="2000">
                <a:solidFill>
                  <a:srgbClr val="ABB2BF"/>
                </a:solidFill>
                <a:latin typeface="Consolas"/>
              </a:rPr>
              <a:t>)</a:t>
            </a:r>
            <a:r>
              <a:rPr sz="2000">
                <a:solidFill>
                  <a:srgbClr val="ABB2BF"/>
                </a:solidFill>
                <a:latin typeface="Consolas"/>
              </a:rPr>
              <a:t>:</a:t>
            </a:r>
          </a:p>
          <a:p>
            <a:pPr>
              <a:spcAft>
                <a:spcPts val="200"/>
              </a:spcAft>
              <a:defRPr sz="2000">
                <a:latin typeface="Consolas"/>
              </a:defRPr>
            </a:pPr>
            <a:r>
              <a:rPr sz="2000">
                <a:solidFill>
                  <a:srgbClr val="C678DD"/>
                </a:solidFill>
                <a:latin typeface="Consolas"/>
              </a:rPr>
              <a:t>with</a:t>
            </a:r>
            <a:r>
              <a:rPr sz="2000">
                <a:solidFill>
                  <a:srgbClr val="F0F4FA"/>
                </a:solidFill>
                <a:latin typeface="Consolas"/>
              </a:rPr>
              <a:t> </a:t>
            </a:r>
            <a:r>
              <a:rPr sz="2000">
                <a:solidFill>
                  <a:srgbClr val="E5C07B"/>
                </a:solidFill>
                <a:latin typeface="Consolas"/>
              </a:rPr>
              <a:t>open</a:t>
            </a:r>
            <a:r>
              <a:rPr sz="2000">
                <a:solidFill>
                  <a:srgbClr val="ABB2BF"/>
                </a:solidFill>
                <a:latin typeface="Consolas"/>
              </a:rPr>
              <a:t>(</a:t>
            </a:r>
            <a:r>
              <a:rPr sz="2000">
                <a:solidFill>
                  <a:srgbClr val="F0F4FA"/>
                </a:solidFill>
                <a:latin typeface="Consolas"/>
              </a:rPr>
              <a:t>file_path</a:t>
            </a:r>
            <a:r>
              <a:rPr sz="2000">
                <a:solidFill>
                  <a:srgbClr val="ABB2BF"/>
                </a:solidFill>
                <a:latin typeface="Consolas"/>
              </a:rPr>
              <a:t>,</a:t>
            </a:r>
            <a:r>
              <a:rPr sz="2000">
                <a:solidFill>
                  <a:srgbClr val="F0F4FA"/>
                </a:solidFill>
                <a:latin typeface="Consolas"/>
              </a:rPr>
              <a:t> </a:t>
            </a:r>
            <a:r>
              <a:rPr sz="2000">
                <a:solidFill>
                  <a:srgbClr val="98C379"/>
                </a:solidFill>
                <a:latin typeface="Consolas"/>
              </a:rPr>
              <a:t>'</a:t>
            </a:r>
            <a:r>
              <a:rPr sz="2000">
                <a:solidFill>
                  <a:srgbClr val="98C379"/>
                </a:solidFill>
                <a:latin typeface="Consolas"/>
              </a:rPr>
              <a:t>r</a:t>
            </a:r>
            <a:r>
              <a:rPr sz="2000">
                <a:solidFill>
                  <a:srgbClr val="98C379"/>
                </a:solidFill>
                <a:latin typeface="Consolas"/>
              </a:rPr>
              <a:t>'</a:t>
            </a:r>
            <a:r>
              <a:rPr sz="2000">
                <a:solidFill>
                  <a:srgbClr val="ABB2BF"/>
                </a:solidFill>
                <a:latin typeface="Consolas"/>
              </a:rPr>
              <a:t>)</a:t>
            </a:r>
            <a:r>
              <a:rPr sz="2000">
                <a:solidFill>
                  <a:srgbClr val="F0F4FA"/>
                </a:solidFill>
                <a:latin typeface="Consolas"/>
              </a:rPr>
              <a:t> </a:t>
            </a:r>
            <a:r>
              <a:rPr sz="2000">
                <a:solidFill>
                  <a:srgbClr val="C678DD"/>
                </a:solidFill>
                <a:latin typeface="Consolas"/>
              </a:rPr>
              <a:t>as</a:t>
            </a:r>
            <a:r>
              <a:rPr sz="2000">
                <a:solidFill>
                  <a:srgbClr val="F0F4FA"/>
                </a:solidFill>
                <a:latin typeface="Consolas"/>
              </a:rPr>
              <a:t> </a:t>
            </a:r>
            <a:r>
              <a:rPr sz="2000">
                <a:solidFill>
                  <a:srgbClr val="F0F4FA"/>
                </a:solidFill>
                <a:latin typeface="Consolas"/>
              </a:rPr>
              <a:t>file</a:t>
            </a:r>
            <a:r>
              <a:rPr sz="2000">
                <a:solidFill>
                  <a:srgbClr val="ABB2BF"/>
                </a:solidFill>
                <a:latin typeface="Consolas"/>
              </a:rPr>
              <a:t>:</a:t>
            </a:r>
          </a:p>
          <a:p>
            <a:pPr>
              <a:spcAft>
                <a:spcPts val="200"/>
              </a:spcAft>
              <a:defRPr sz="2000">
                <a:latin typeface="Consolas"/>
              </a:defRPr>
            </a:pPr>
            <a:r>
              <a:rPr sz="2000">
                <a:solidFill>
                  <a:srgbClr val="C678DD"/>
                </a:solidFill>
                <a:latin typeface="Consolas"/>
              </a:rPr>
              <a:t>async</a:t>
            </a:r>
            <a:r>
              <a:rPr sz="2000">
                <a:solidFill>
                  <a:srgbClr val="F0F4FA"/>
                </a:solidFill>
                <a:latin typeface="Consolas"/>
              </a:rPr>
              <a:t> </a:t>
            </a:r>
            <a:r>
              <a:rPr sz="2000">
                <a:solidFill>
                  <a:srgbClr val="C678DD"/>
                </a:solidFill>
                <a:latin typeface="Consolas"/>
              </a:rPr>
              <a:t>for</a:t>
            </a:r>
            <a:r>
              <a:rPr sz="2000">
                <a:solidFill>
                  <a:srgbClr val="F0F4FA"/>
                </a:solidFill>
                <a:latin typeface="Consolas"/>
              </a:rPr>
              <a:t> </a:t>
            </a:r>
            <a:r>
              <a:rPr sz="2000">
                <a:solidFill>
                  <a:srgbClr val="F0F4FA"/>
                </a:solidFill>
                <a:latin typeface="Consolas"/>
              </a:rPr>
              <a:t>line</a:t>
            </a:r>
            <a:r>
              <a:rPr sz="2000">
                <a:solidFill>
                  <a:srgbClr val="F0F4FA"/>
                </a:solidFill>
                <a:latin typeface="Consolas"/>
              </a:rPr>
              <a:t> </a:t>
            </a:r>
            <a:r>
              <a:rPr sz="2000">
                <a:solidFill>
                  <a:srgbClr val="56B6C2"/>
                </a:solidFill>
                <a:latin typeface="Consolas"/>
              </a:rPr>
              <a:t>in</a:t>
            </a:r>
            <a:r>
              <a:rPr sz="2000">
                <a:solidFill>
                  <a:srgbClr val="F0F4FA"/>
                </a:solidFill>
                <a:latin typeface="Consolas"/>
              </a:rPr>
              <a:t> </a:t>
            </a:r>
            <a:r>
              <a:rPr sz="2000">
                <a:solidFill>
                  <a:srgbClr val="F0F4FA"/>
                </a:solidFill>
                <a:latin typeface="Consolas"/>
              </a:rPr>
              <a:t>file</a:t>
            </a:r>
            <a:r>
              <a:rPr sz="2000">
                <a:solidFill>
                  <a:srgbClr val="ABB2BF"/>
                </a:solidFill>
                <a:latin typeface="Consolas"/>
              </a:rPr>
              <a:t>:</a:t>
            </a:r>
          </a:p>
          <a:p>
            <a:pPr>
              <a:spcAft>
                <a:spcPts val="200"/>
              </a:spcAft>
              <a:defRPr sz="2000">
                <a:latin typeface="Consolas"/>
              </a:defRPr>
            </a:pPr>
            <a:r>
              <a:rPr sz="2000">
                <a:solidFill>
                  <a:srgbClr val="E5C07B"/>
                </a:solidFill>
                <a:latin typeface="Consolas"/>
              </a:rPr>
              <a:t>print</a:t>
            </a:r>
            <a:r>
              <a:rPr sz="2000">
                <a:solidFill>
                  <a:srgbClr val="ABB2BF"/>
                </a:solidFill>
                <a:latin typeface="Consolas"/>
              </a:rPr>
              <a:t>(</a:t>
            </a:r>
            <a:r>
              <a:rPr sz="2000">
                <a:solidFill>
                  <a:srgbClr val="F0F4FA"/>
                </a:solidFill>
                <a:latin typeface="Consolas"/>
              </a:rPr>
              <a:t>line</a:t>
            </a:r>
            <a:r>
              <a:rPr sz="2000">
                <a:solidFill>
                  <a:srgbClr val="ABB2BF"/>
                </a:solidFill>
                <a:latin typeface="Consolas"/>
              </a:rPr>
              <a:t>,</a:t>
            </a:r>
            <a:r>
              <a:rPr sz="2000">
                <a:solidFill>
                  <a:srgbClr val="F0F4FA"/>
                </a:solidFill>
                <a:latin typeface="Consolas"/>
              </a:rPr>
              <a:t> </a:t>
            </a:r>
            <a:r>
              <a:rPr sz="2000">
                <a:solidFill>
                  <a:srgbClr val="F0F4FA"/>
                </a:solidFill>
                <a:latin typeface="Consolas"/>
              </a:rPr>
              <a:t>end</a:t>
            </a:r>
            <a:r>
              <a:rPr sz="2000">
                <a:solidFill>
                  <a:srgbClr val="56B6C2"/>
                </a:solidFill>
                <a:latin typeface="Consolas"/>
              </a:rPr>
              <a:t>=</a:t>
            </a:r>
            <a:r>
              <a:rPr sz="2000">
                <a:solidFill>
                  <a:srgbClr val="98C379"/>
                </a:solidFill>
                <a:latin typeface="Consolas"/>
              </a:rPr>
              <a:t>'</a:t>
            </a:r>
            <a:r>
              <a:rPr sz="2000">
                <a:solidFill>
                  <a:srgbClr val="98C379"/>
                </a:solidFill>
                <a:latin typeface="Consolas"/>
              </a:rPr>
              <a:t>'</a:t>
            </a:r>
            <a:r>
              <a:rPr sz="2000">
                <a:solidFill>
                  <a:srgbClr val="ABB2BF"/>
                </a:solidFill>
                <a:latin typeface="Consolas"/>
              </a:rPr>
              <a:t>)</a:t>
            </a:r>
          </a:p>
          <a:p>
            <a:pPr>
              <a:spcAft>
                <a:spcPts val="200"/>
              </a:spcAft>
              <a:defRPr sz="2000">
                <a:latin typeface="Consolas"/>
              </a:defRPr>
            </a:pPr>
            <a:r>
              <a:rPr sz="2000">
                <a:solidFill>
                  <a:srgbClr val="F0F4FA"/>
                </a:solidFill>
                <a:latin typeface="Consolas"/>
              </a:rPr>
              <a:t>asyncio</a:t>
            </a:r>
            <a:r>
              <a:rPr sz="2000">
                <a:solidFill>
                  <a:srgbClr val="56B6C2"/>
                </a:solidFill>
                <a:latin typeface="Consolas"/>
              </a:rPr>
              <a:t>.</a:t>
            </a:r>
            <a:r>
              <a:rPr sz="2000">
                <a:solidFill>
                  <a:srgbClr val="F0F4FA"/>
                </a:solidFill>
                <a:latin typeface="Consolas"/>
              </a:rPr>
              <a:t>run</a:t>
            </a:r>
            <a:r>
              <a:rPr sz="2000">
                <a:solidFill>
                  <a:srgbClr val="ABB2BF"/>
                </a:solidFill>
                <a:latin typeface="Consolas"/>
              </a:rPr>
              <a:t>(</a:t>
            </a:r>
            <a:r>
              <a:rPr sz="2000">
                <a:solidFill>
                  <a:srgbClr val="F0F4FA"/>
                </a:solidFill>
                <a:latin typeface="Consolas"/>
              </a:rPr>
              <a:t>read_file</a:t>
            </a:r>
            <a:r>
              <a:rPr sz="2000">
                <a:solidFill>
                  <a:srgbClr val="ABB2BF"/>
                </a:solidFill>
                <a:latin typeface="Consolas"/>
              </a:rPr>
              <a:t>(</a:t>
            </a:r>
            <a:r>
              <a:rPr sz="2000">
                <a:solidFill>
                  <a:srgbClr val="98C379"/>
                </a:solidFill>
                <a:latin typeface="Consolas"/>
              </a:rPr>
              <a:t>'</a:t>
            </a:r>
            <a:r>
              <a:rPr sz="2000">
                <a:solidFill>
                  <a:srgbClr val="98C379"/>
                </a:solidFill>
                <a:latin typeface="Consolas"/>
              </a:rPr>
              <a:t>example.txt</a:t>
            </a:r>
            <a:r>
              <a:rPr sz="2000">
                <a:solidFill>
                  <a:srgbClr val="98C379"/>
                </a:solidFill>
                <a:latin typeface="Consolas"/>
              </a:rPr>
              <a:t>'</a:t>
            </a:r>
            <a:r>
              <a:rPr sz="2000">
                <a:solidFill>
                  <a:srgbClr val="ABB2BF"/>
                </a:solidFill>
                <a:latin typeface="Consolas"/>
              </a:rPr>
              <a:t>)</a:t>
            </a:r>
            <a:r>
              <a:rPr sz="2000">
                <a:solidFill>
                  <a:srgbClr val="ABB2BF"/>
                </a:solidFill>
                <a:latin typeface="Consolas"/>
              </a:rPr>
              <a:t>)</a:t>
            </a:r>
          </a:p>
          <a:p>
            <a:pPr>
              <a:spcBef>
                <a:spcPts val="1200"/>
              </a:spcBef>
            </a:pPr>
            <a:r>
              <a:rPr sz="1800" b="1">
                <a:solidFill>
                  <a:srgbClr val="4ADE80"/>
                </a:solidFill>
                <a:latin typeface="Consolas"/>
              </a:rPr>
              <a:t>Expected Output: </a:t>
            </a:r>
            <a:r>
              <a:rPr sz="1800">
                <a:solidFill>
                  <a:srgbClr val="E2E8F0"/>
                </a:solidFill>
                <a:latin typeface="Consolas"/>
              </a:rPr>
              <a:t>Execution verified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DPU_backgroun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981199" y="1079500"/>
            <a:ext cx="8229599" cy="438149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4400" b="1">
                <a:solidFill>
                  <a:srgbClr val="00132A"/>
                </a:solidFill>
                <a:latin typeface="Arial"/>
              </a:defRPr>
            </a:pPr>
            <a:r>
              <a:t>Error Handling in AsyncIO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981199" y="6095999"/>
            <a:ext cx="8229599" cy="152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>
                <a:solidFill>
                  <a:srgbClr val="64748B"/>
                </a:solidFill>
                <a:latin typeface="Segoe UI"/>
              </a:defRPr>
            </a:pPr>
            <a:r>
              <a:t>DPU   •   Error Handling in AsyncIO   •   Slide 5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981199" y="1695449"/>
            <a:ext cx="3505199" cy="215900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l">
              <a:spcAft>
                <a:spcPts val="1200"/>
              </a:spcAft>
              <a:defRPr sz="3000">
                <a:solidFill>
                  <a:srgbClr val="0F172A"/>
                </a:solidFill>
                <a:latin typeface="Segoe UI"/>
              </a:defRPr>
            </a:pPr>
            <a:r>
              <a:t>•  Use `asyncio.create_task` for task management</a:t>
            </a:r>
          </a:p>
          <a:p>
            <a:pPr algn="l">
              <a:spcAft>
                <a:spcPts val="1200"/>
              </a:spcAft>
              <a:defRPr sz="3000">
                <a:solidFill>
                  <a:srgbClr val="0F172A"/>
                </a:solidFill>
                <a:latin typeface="Segoe UI"/>
              </a:defRPr>
            </a:pPr>
            <a:r>
              <a:t>•  Handle exceptions with `try` and `await`</a:t>
            </a:r>
          </a:p>
          <a:p>
            <a:pPr>
              <a:defRPr sz="2600" i="1">
                <a:solidFill>
                  <a:srgbClr val="002147"/>
                </a:solidFill>
              </a:defRPr>
            </a:pPr>
            <a:r>
              <a:t>Reference: exercise_3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740399" y="1695449"/>
            <a:ext cx="4470399" cy="2159000"/>
          </a:xfrm>
          <a:prstGeom prst="roundRect">
            <a:avLst/>
          </a:prstGeom>
          <a:solidFill>
            <a:srgbClr val="1E1E2E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ctr">
              <a:spcAft>
                <a:spcPts val="800"/>
              </a:spcAft>
              <a:defRPr sz="1200">
                <a:solidFill>
                  <a:srgbClr val="60A5FA"/>
                </a:solidFill>
                <a:latin typeface="Consolas"/>
              </a:defRPr>
            </a:pPr>
            <a:r>
              <a:t>// Language: PYTHON 3.12.8</a:t>
            </a:r>
          </a:p>
          <a:p>
            <a:pPr>
              <a:spcAft>
                <a:spcPts val="200"/>
              </a:spcAft>
              <a:defRPr sz="2000">
                <a:latin typeface="Consolas"/>
              </a:defRPr>
            </a:pPr>
            <a:r>
              <a:rPr sz="2000">
                <a:solidFill>
                  <a:srgbClr val="C678DD"/>
                </a:solidFill>
                <a:latin typeface="Consolas"/>
              </a:rPr>
              <a:t>async</a:t>
            </a:r>
            <a:r>
              <a:rPr sz="2000">
                <a:solidFill>
                  <a:srgbClr val="F0F4FA"/>
                </a:solidFill>
                <a:latin typeface="Consolas"/>
              </a:rPr>
              <a:t> </a:t>
            </a:r>
            <a:r>
              <a:rPr sz="2000">
                <a:solidFill>
                  <a:srgbClr val="C678DD"/>
                </a:solidFill>
                <a:latin typeface="Consolas"/>
              </a:rPr>
              <a:t>def</a:t>
            </a:r>
            <a:r>
              <a:rPr sz="2000">
                <a:solidFill>
                  <a:srgbClr val="F0F4FA"/>
                </a:solidFill>
                <a:latin typeface="Consolas"/>
              </a:rPr>
              <a:t> </a:t>
            </a:r>
            <a:r>
              <a:rPr sz="2000">
                <a:solidFill>
                  <a:srgbClr val="61AFEF"/>
                </a:solidFill>
                <a:latin typeface="Consolas"/>
              </a:rPr>
              <a:t>handle_task</a:t>
            </a:r>
            <a:r>
              <a:rPr sz="2000">
                <a:solidFill>
                  <a:srgbClr val="ABB2BF"/>
                </a:solidFill>
                <a:latin typeface="Consolas"/>
              </a:rPr>
              <a:t>(</a:t>
            </a:r>
            <a:r>
              <a:rPr sz="2000">
                <a:solidFill>
                  <a:srgbClr val="F0F4FA"/>
                </a:solidFill>
                <a:latin typeface="Consolas"/>
              </a:rPr>
              <a:t>task</a:t>
            </a:r>
            <a:r>
              <a:rPr sz="2000">
                <a:solidFill>
                  <a:srgbClr val="ABB2BF"/>
                </a:solidFill>
                <a:latin typeface="Consolas"/>
              </a:rPr>
              <a:t>)</a:t>
            </a:r>
            <a:r>
              <a:rPr sz="2000">
                <a:solidFill>
                  <a:srgbClr val="ABB2BF"/>
                </a:solidFill>
                <a:latin typeface="Consolas"/>
              </a:rPr>
              <a:t>:</a:t>
            </a:r>
          </a:p>
          <a:p>
            <a:pPr>
              <a:spcAft>
                <a:spcPts val="200"/>
              </a:spcAft>
              <a:defRPr sz="2000">
                <a:latin typeface="Consolas"/>
              </a:defRPr>
            </a:pPr>
            <a:r>
              <a:rPr sz="2000">
                <a:solidFill>
                  <a:srgbClr val="C678DD"/>
                </a:solidFill>
                <a:latin typeface="Consolas"/>
              </a:rPr>
              <a:t>try</a:t>
            </a:r>
            <a:r>
              <a:rPr sz="2000">
                <a:solidFill>
                  <a:srgbClr val="ABB2BF"/>
                </a:solidFill>
                <a:latin typeface="Consolas"/>
              </a:rPr>
              <a:t>:</a:t>
            </a:r>
          </a:p>
          <a:p>
            <a:pPr>
              <a:spcAft>
                <a:spcPts val="200"/>
              </a:spcAft>
              <a:defRPr sz="2000">
                <a:latin typeface="Consolas"/>
              </a:defRPr>
            </a:pPr>
            <a:r>
              <a:rPr sz="2000">
                <a:solidFill>
                  <a:srgbClr val="C678DD"/>
                </a:solidFill>
                <a:latin typeface="Consolas"/>
              </a:rPr>
              <a:t>await</a:t>
            </a:r>
            <a:r>
              <a:rPr sz="2000">
                <a:solidFill>
                  <a:srgbClr val="F0F4FA"/>
                </a:solidFill>
                <a:latin typeface="Consolas"/>
              </a:rPr>
              <a:t> </a:t>
            </a:r>
            <a:r>
              <a:rPr sz="2000">
                <a:solidFill>
                  <a:srgbClr val="F0F4FA"/>
                </a:solidFill>
                <a:latin typeface="Consolas"/>
              </a:rPr>
              <a:t>task</a:t>
            </a:r>
          </a:p>
          <a:p>
            <a:pPr>
              <a:spcAft>
                <a:spcPts val="200"/>
              </a:spcAft>
              <a:defRPr sz="2000">
                <a:latin typeface="Consolas"/>
              </a:defRPr>
            </a:pPr>
            <a:r>
              <a:rPr sz="2000">
                <a:solidFill>
                  <a:srgbClr val="C678DD"/>
                </a:solidFill>
                <a:latin typeface="Consolas"/>
              </a:rPr>
              <a:t>except</a:t>
            </a:r>
            <a:r>
              <a:rPr sz="2000">
                <a:solidFill>
                  <a:srgbClr val="F0F4FA"/>
                </a:solidFill>
                <a:latin typeface="Consolas"/>
              </a:rPr>
              <a:t> </a:t>
            </a:r>
            <a:r>
              <a:rPr sz="2000">
                <a:solidFill>
                  <a:srgbClr val="F0F4FA"/>
                </a:solidFill>
                <a:latin typeface="Consolas"/>
              </a:rPr>
              <a:t>Exception</a:t>
            </a:r>
            <a:r>
              <a:rPr sz="2000">
                <a:solidFill>
                  <a:srgbClr val="F0F4FA"/>
                </a:solidFill>
                <a:latin typeface="Consolas"/>
              </a:rPr>
              <a:t> </a:t>
            </a:r>
            <a:r>
              <a:rPr sz="2000">
                <a:solidFill>
                  <a:srgbClr val="C678DD"/>
                </a:solidFill>
                <a:latin typeface="Consolas"/>
              </a:rPr>
              <a:t>as</a:t>
            </a:r>
            <a:r>
              <a:rPr sz="2000">
                <a:solidFill>
                  <a:srgbClr val="F0F4FA"/>
                </a:solidFill>
                <a:latin typeface="Consolas"/>
              </a:rPr>
              <a:t> </a:t>
            </a:r>
            <a:r>
              <a:rPr sz="2000">
                <a:solidFill>
                  <a:srgbClr val="F0F4FA"/>
                </a:solidFill>
                <a:latin typeface="Consolas"/>
              </a:rPr>
              <a:t>e</a:t>
            </a:r>
            <a:r>
              <a:rPr sz="2000">
                <a:solidFill>
                  <a:srgbClr val="ABB2BF"/>
                </a:solidFill>
                <a:latin typeface="Consolas"/>
              </a:rPr>
              <a:t>:</a:t>
            </a:r>
          </a:p>
          <a:p>
            <a:pPr>
              <a:spcAft>
                <a:spcPts val="200"/>
              </a:spcAft>
              <a:defRPr sz="2000">
                <a:latin typeface="Consolas"/>
              </a:defRPr>
            </a:pPr>
            <a:r>
              <a:rPr sz="2000">
                <a:solidFill>
                  <a:srgbClr val="E5C07B"/>
                </a:solidFill>
                <a:latin typeface="Consolas"/>
              </a:rPr>
              <a:t>print</a:t>
            </a:r>
            <a:r>
              <a:rPr sz="2000">
                <a:solidFill>
                  <a:srgbClr val="ABB2BF"/>
                </a:solidFill>
                <a:latin typeface="Consolas"/>
              </a:rPr>
              <a:t>(</a:t>
            </a:r>
            <a:r>
              <a:rPr sz="2000">
                <a:solidFill>
                  <a:srgbClr val="98C379"/>
                </a:solidFill>
                <a:latin typeface="Consolas"/>
              </a:rPr>
              <a:t>f</a:t>
            </a:r>
            <a:r>
              <a:rPr sz="2000">
                <a:solidFill>
                  <a:srgbClr val="98C379"/>
                </a:solidFill>
                <a:latin typeface="Consolas"/>
              </a:rPr>
              <a:t>'</a:t>
            </a:r>
            <a:r>
              <a:rPr sz="2000">
                <a:solidFill>
                  <a:srgbClr val="98C379"/>
                </a:solidFill>
                <a:latin typeface="Consolas"/>
              </a:rPr>
              <a:t>Error: </a:t>
            </a:r>
            <a:r>
              <a:rPr sz="2000">
                <a:solidFill>
                  <a:srgbClr val="98C379"/>
                </a:solidFill>
                <a:latin typeface="Consolas"/>
              </a:rPr>
              <a:t>{</a:t>
            </a:r>
            <a:r>
              <a:rPr sz="2000">
                <a:solidFill>
                  <a:srgbClr val="F0F4FA"/>
                </a:solidFill>
                <a:latin typeface="Consolas"/>
              </a:rPr>
              <a:t>e</a:t>
            </a:r>
            <a:r>
              <a:rPr sz="2000">
                <a:solidFill>
                  <a:srgbClr val="98C379"/>
                </a:solidFill>
                <a:latin typeface="Consolas"/>
              </a:rPr>
              <a:t>}</a:t>
            </a:r>
            <a:r>
              <a:rPr sz="2000">
                <a:solidFill>
                  <a:srgbClr val="98C379"/>
                </a:solidFill>
                <a:latin typeface="Consolas"/>
              </a:rPr>
              <a:t>'</a:t>
            </a:r>
            <a:r>
              <a:rPr sz="2000">
                <a:solidFill>
                  <a:srgbClr val="ABB2BF"/>
                </a:solidFill>
                <a:latin typeface="Consolas"/>
              </a:rPr>
              <a:t>)</a:t>
            </a:r>
          </a:p>
          <a:p>
            <a:pPr>
              <a:spcAft>
                <a:spcPts val="200"/>
              </a:spcAft>
              <a:defRPr sz="2000">
                <a:latin typeface="Consolas"/>
              </a:defRPr>
            </a:pPr>
            <a:r>
              <a:rPr sz="2000">
                <a:solidFill>
                  <a:srgbClr val="F0F4FA"/>
                </a:solidFill>
                <a:latin typeface="Consolas"/>
              </a:rPr>
              <a:t>asyncio</a:t>
            </a:r>
            <a:r>
              <a:rPr sz="2000">
                <a:solidFill>
                  <a:srgbClr val="56B6C2"/>
                </a:solidFill>
                <a:latin typeface="Consolas"/>
              </a:rPr>
              <a:t>.</a:t>
            </a:r>
            <a:r>
              <a:rPr sz="2000">
                <a:solidFill>
                  <a:srgbClr val="F0F4FA"/>
                </a:solidFill>
                <a:latin typeface="Consolas"/>
              </a:rPr>
              <a:t>create_task</a:t>
            </a:r>
            <a:r>
              <a:rPr sz="2000">
                <a:solidFill>
                  <a:srgbClr val="ABB2BF"/>
                </a:solidFill>
                <a:latin typeface="Consolas"/>
              </a:rPr>
              <a:t>(</a:t>
            </a:r>
            <a:r>
              <a:rPr sz="2000">
                <a:solidFill>
                  <a:srgbClr val="F0F4FA"/>
                </a:solidFill>
                <a:latin typeface="Consolas"/>
              </a:rPr>
              <a:t>handle_task</a:t>
            </a:r>
            <a:r>
              <a:rPr sz="2000">
                <a:solidFill>
                  <a:srgbClr val="ABB2BF"/>
                </a:solidFill>
                <a:latin typeface="Consolas"/>
              </a:rPr>
              <a:t>(</a:t>
            </a:r>
            <a:r>
              <a:rPr sz="2000">
                <a:solidFill>
                  <a:srgbClr val="F0F4FA"/>
                </a:solidFill>
                <a:latin typeface="Consolas"/>
              </a:rPr>
              <a:t>some_async_task</a:t>
            </a:r>
            <a:r>
              <a:rPr sz="2000">
                <a:solidFill>
                  <a:srgbClr val="ABB2BF"/>
                </a:solidFill>
                <a:latin typeface="Consolas"/>
              </a:rPr>
              <a:t>(</a:t>
            </a:r>
            <a:r>
              <a:rPr sz="2000">
                <a:solidFill>
                  <a:srgbClr val="ABB2BF"/>
                </a:solidFill>
                <a:latin typeface="Consolas"/>
              </a:rPr>
              <a:t>)</a:t>
            </a:r>
            <a:r>
              <a:rPr sz="2000">
                <a:solidFill>
                  <a:srgbClr val="ABB2BF"/>
                </a:solidFill>
                <a:latin typeface="Consolas"/>
              </a:rPr>
              <a:t>)</a:t>
            </a:r>
            <a:r>
              <a:rPr sz="2000">
                <a:solidFill>
                  <a:srgbClr val="ABB2BF"/>
                </a:solidFill>
                <a:latin typeface="Consolas"/>
              </a:rPr>
              <a:t>)</a:t>
            </a:r>
          </a:p>
          <a:p>
            <a:pPr>
              <a:spcBef>
                <a:spcPts val="1200"/>
              </a:spcBef>
            </a:pPr>
            <a:r>
              <a:rPr sz="1800" b="1">
                <a:solidFill>
                  <a:srgbClr val="4ADE80"/>
                </a:solidFill>
                <a:latin typeface="Consolas"/>
              </a:rPr>
              <a:t>Expected Output: </a:t>
            </a:r>
            <a:r>
              <a:rPr sz="1800">
                <a:solidFill>
                  <a:srgbClr val="E2E8F0"/>
                </a:solidFill>
                <a:latin typeface="Consolas"/>
              </a:rPr>
              <a:t>Execution verified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DPU_backgroun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981199" y="1079500"/>
            <a:ext cx="8229599" cy="438149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4400" b="1">
                <a:solidFill>
                  <a:srgbClr val="00132A"/>
                </a:solidFill>
                <a:latin typeface="Arial"/>
              </a:defRPr>
            </a:pPr>
            <a:r>
              <a:t>Creating Custom Coroutines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981199" y="6095999"/>
            <a:ext cx="8229599" cy="152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>
                <a:solidFill>
                  <a:srgbClr val="64748B"/>
                </a:solidFill>
                <a:latin typeface="Segoe UI"/>
              </a:defRPr>
            </a:pPr>
            <a:r>
              <a:t>DPU   •   Creating Custom Coroutines   •   Slide 6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981199" y="1695449"/>
            <a:ext cx="3505199" cy="215900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l">
              <a:spcAft>
                <a:spcPts val="1200"/>
              </a:spcAft>
              <a:defRPr sz="3000">
                <a:solidFill>
                  <a:srgbClr val="0F172A"/>
                </a:solidFill>
                <a:latin typeface="Segoe UI"/>
              </a:defRPr>
            </a:pPr>
            <a:r>
              <a:t>•  Define coroutines using `async def`</a:t>
            </a:r>
          </a:p>
          <a:p>
            <a:pPr algn="l">
              <a:spcAft>
                <a:spcPts val="1200"/>
              </a:spcAft>
              <a:defRPr sz="3000">
                <a:solidFill>
                  <a:srgbClr val="0F172A"/>
                </a:solidFill>
                <a:latin typeface="Segoe UI"/>
              </a:defRPr>
            </a:pPr>
            <a:r>
              <a:t>•  Use `await` for I/O operations</a:t>
            </a:r>
          </a:p>
          <a:p>
            <a:pPr>
              <a:defRPr sz="2600" i="1">
                <a:solidFill>
                  <a:srgbClr val="002147"/>
                </a:solidFill>
              </a:defRPr>
            </a:pPr>
            <a:r>
              <a:t>Reference: exercise_4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740399" y="1695449"/>
            <a:ext cx="4470399" cy="2159000"/>
          </a:xfrm>
          <a:prstGeom prst="roundRect">
            <a:avLst/>
          </a:prstGeom>
          <a:solidFill>
            <a:srgbClr val="1E1E2E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ctr">
              <a:spcAft>
                <a:spcPts val="800"/>
              </a:spcAft>
              <a:defRPr sz="1200">
                <a:solidFill>
                  <a:srgbClr val="60A5FA"/>
                </a:solidFill>
                <a:latin typeface="Consolas"/>
              </a:defRPr>
            </a:pPr>
            <a:r>
              <a:t>// Language: PYTHON 3.12.8</a:t>
            </a:r>
          </a:p>
          <a:p>
            <a:pPr>
              <a:spcAft>
                <a:spcPts val="200"/>
              </a:spcAft>
              <a:defRPr sz="2000">
                <a:latin typeface="Consolas"/>
              </a:defRPr>
            </a:pPr>
            <a:r>
              <a:rPr sz="2000">
                <a:solidFill>
                  <a:srgbClr val="C678DD"/>
                </a:solidFill>
                <a:latin typeface="Consolas"/>
              </a:rPr>
              <a:t>async</a:t>
            </a:r>
            <a:r>
              <a:rPr sz="2000">
                <a:solidFill>
                  <a:srgbClr val="F0F4FA"/>
                </a:solidFill>
                <a:latin typeface="Consolas"/>
              </a:rPr>
              <a:t> </a:t>
            </a:r>
            <a:r>
              <a:rPr sz="2000">
                <a:solidFill>
                  <a:srgbClr val="C678DD"/>
                </a:solidFill>
                <a:latin typeface="Consolas"/>
              </a:rPr>
              <a:t>def</a:t>
            </a:r>
            <a:r>
              <a:rPr sz="2000">
                <a:solidFill>
                  <a:srgbClr val="F0F4FA"/>
                </a:solidFill>
                <a:latin typeface="Consolas"/>
              </a:rPr>
              <a:t> </a:t>
            </a:r>
            <a:r>
              <a:rPr sz="2000">
                <a:solidFill>
                  <a:srgbClr val="61AFEF"/>
                </a:solidFill>
                <a:latin typeface="Consolas"/>
              </a:rPr>
              <a:t>custom_coroutine</a:t>
            </a:r>
            <a:r>
              <a:rPr sz="2000">
                <a:solidFill>
                  <a:srgbClr val="ABB2BF"/>
                </a:solidFill>
                <a:latin typeface="Consolas"/>
              </a:rPr>
              <a:t>(</a:t>
            </a:r>
            <a:r>
              <a:rPr sz="2000">
                <a:solidFill>
                  <a:srgbClr val="F0F4FA"/>
                </a:solidFill>
                <a:latin typeface="Consolas"/>
              </a:rPr>
              <a:t>file_path</a:t>
            </a:r>
            <a:r>
              <a:rPr sz="2000">
                <a:solidFill>
                  <a:srgbClr val="ABB2BF"/>
                </a:solidFill>
                <a:latin typeface="Consolas"/>
              </a:rPr>
              <a:t>)</a:t>
            </a:r>
            <a:r>
              <a:rPr sz="2000">
                <a:solidFill>
                  <a:srgbClr val="ABB2BF"/>
                </a:solidFill>
                <a:latin typeface="Consolas"/>
              </a:rPr>
              <a:t>:</a:t>
            </a:r>
          </a:p>
          <a:p>
            <a:pPr>
              <a:spcAft>
                <a:spcPts val="200"/>
              </a:spcAft>
              <a:defRPr sz="2000">
                <a:latin typeface="Consolas"/>
              </a:defRPr>
            </a:pPr>
            <a:r>
              <a:rPr sz="2000">
                <a:solidFill>
                  <a:srgbClr val="C678DD"/>
                </a:solidFill>
                <a:latin typeface="Consolas"/>
              </a:rPr>
              <a:t>async</a:t>
            </a:r>
            <a:r>
              <a:rPr sz="2000">
                <a:solidFill>
                  <a:srgbClr val="F0F4FA"/>
                </a:solidFill>
                <a:latin typeface="Consolas"/>
              </a:rPr>
              <a:t> </a:t>
            </a:r>
            <a:r>
              <a:rPr sz="2000">
                <a:solidFill>
                  <a:srgbClr val="C678DD"/>
                </a:solidFill>
                <a:latin typeface="Consolas"/>
              </a:rPr>
              <a:t>with</a:t>
            </a:r>
            <a:r>
              <a:rPr sz="2000">
                <a:solidFill>
                  <a:srgbClr val="F0F4FA"/>
                </a:solidFill>
                <a:latin typeface="Consolas"/>
              </a:rPr>
              <a:t> </a:t>
            </a:r>
            <a:r>
              <a:rPr sz="2000">
                <a:solidFill>
                  <a:srgbClr val="F0F4FA"/>
                </a:solidFill>
                <a:latin typeface="Consolas"/>
              </a:rPr>
              <a:t>aiofiles</a:t>
            </a:r>
            <a:r>
              <a:rPr sz="2000">
                <a:solidFill>
                  <a:srgbClr val="56B6C2"/>
                </a:solidFill>
                <a:latin typeface="Consolas"/>
              </a:rPr>
              <a:t>.</a:t>
            </a:r>
            <a:r>
              <a:rPr sz="2000">
                <a:solidFill>
                  <a:srgbClr val="F0F4FA"/>
                </a:solidFill>
                <a:latin typeface="Consolas"/>
              </a:rPr>
              <a:t>open</a:t>
            </a:r>
            <a:r>
              <a:rPr sz="2000">
                <a:solidFill>
                  <a:srgbClr val="ABB2BF"/>
                </a:solidFill>
                <a:latin typeface="Consolas"/>
              </a:rPr>
              <a:t>(</a:t>
            </a:r>
            <a:r>
              <a:rPr sz="2000">
                <a:solidFill>
                  <a:srgbClr val="F0F4FA"/>
                </a:solidFill>
                <a:latin typeface="Consolas"/>
              </a:rPr>
              <a:t>file_path</a:t>
            </a:r>
            <a:r>
              <a:rPr sz="2000">
                <a:solidFill>
                  <a:srgbClr val="ABB2BF"/>
                </a:solidFill>
                <a:latin typeface="Consolas"/>
              </a:rPr>
              <a:t>,</a:t>
            </a:r>
            <a:r>
              <a:rPr sz="2000">
                <a:solidFill>
                  <a:srgbClr val="F0F4FA"/>
                </a:solidFill>
                <a:latin typeface="Consolas"/>
              </a:rPr>
              <a:t> </a:t>
            </a:r>
            <a:r>
              <a:rPr sz="2000">
                <a:solidFill>
                  <a:srgbClr val="98C379"/>
                </a:solidFill>
                <a:latin typeface="Consolas"/>
              </a:rPr>
              <a:t>'</a:t>
            </a:r>
            <a:r>
              <a:rPr sz="2000">
                <a:solidFill>
                  <a:srgbClr val="98C379"/>
                </a:solidFill>
                <a:latin typeface="Consolas"/>
              </a:rPr>
              <a:t>w</a:t>
            </a:r>
            <a:r>
              <a:rPr sz="2000">
                <a:solidFill>
                  <a:srgbClr val="98C379"/>
                </a:solidFill>
                <a:latin typeface="Consolas"/>
              </a:rPr>
              <a:t>'</a:t>
            </a:r>
            <a:r>
              <a:rPr sz="2000">
                <a:solidFill>
                  <a:srgbClr val="ABB2BF"/>
                </a:solidFill>
                <a:latin typeface="Consolas"/>
              </a:rPr>
              <a:t>)</a:t>
            </a:r>
            <a:r>
              <a:rPr sz="2000">
                <a:solidFill>
                  <a:srgbClr val="F0F4FA"/>
                </a:solidFill>
                <a:latin typeface="Consolas"/>
              </a:rPr>
              <a:t> </a:t>
            </a:r>
            <a:r>
              <a:rPr sz="2000">
                <a:solidFill>
                  <a:srgbClr val="C678DD"/>
                </a:solidFill>
                <a:latin typeface="Consolas"/>
              </a:rPr>
              <a:t>as</a:t>
            </a:r>
            <a:r>
              <a:rPr sz="2000">
                <a:solidFill>
                  <a:srgbClr val="F0F4FA"/>
                </a:solidFill>
                <a:latin typeface="Consolas"/>
              </a:rPr>
              <a:t> </a:t>
            </a:r>
            <a:r>
              <a:rPr sz="2000">
                <a:solidFill>
                  <a:srgbClr val="F0F4FA"/>
                </a:solidFill>
                <a:latin typeface="Consolas"/>
              </a:rPr>
              <a:t>file</a:t>
            </a:r>
            <a:r>
              <a:rPr sz="2000">
                <a:solidFill>
                  <a:srgbClr val="ABB2BF"/>
                </a:solidFill>
                <a:latin typeface="Consolas"/>
              </a:rPr>
              <a:t>:</a:t>
            </a:r>
          </a:p>
          <a:p>
            <a:pPr>
              <a:spcAft>
                <a:spcPts val="200"/>
              </a:spcAft>
              <a:defRPr sz="2000">
                <a:latin typeface="Consolas"/>
              </a:defRPr>
            </a:pPr>
            <a:r>
              <a:rPr sz="2000">
                <a:solidFill>
                  <a:srgbClr val="C678DD"/>
                </a:solidFill>
                <a:latin typeface="Consolas"/>
              </a:rPr>
              <a:t>await</a:t>
            </a:r>
            <a:r>
              <a:rPr sz="2000">
                <a:solidFill>
                  <a:srgbClr val="F0F4FA"/>
                </a:solidFill>
                <a:latin typeface="Consolas"/>
              </a:rPr>
              <a:t> </a:t>
            </a:r>
            <a:r>
              <a:rPr sz="2000">
                <a:solidFill>
                  <a:srgbClr val="F0F4FA"/>
                </a:solidFill>
                <a:latin typeface="Consolas"/>
              </a:rPr>
              <a:t>file</a:t>
            </a:r>
            <a:r>
              <a:rPr sz="2000">
                <a:solidFill>
                  <a:srgbClr val="56B6C2"/>
                </a:solidFill>
                <a:latin typeface="Consolas"/>
              </a:rPr>
              <a:t>.</a:t>
            </a:r>
            <a:r>
              <a:rPr sz="2000">
                <a:solidFill>
                  <a:srgbClr val="F0F4FA"/>
                </a:solidFill>
                <a:latin typeface="Consolas"/>
              </a:rPr>
              <a:t>write</a:t>
            </a:r>
            <a:r>
              <a:rPr sz="2000">
                <a:solidFill>
                  <a:srgbClr val="ABB2BF"/>
                </a:solidFill>
                <a:latin typeface="Consolas"/>
              </a:rPr>
              <a:t>(</a:t>
            </a:r>
            <a:r>
              <a:rPr sz="2000">
                <a:solidFill>
                  <a:srgbClr val="98C379"/>
                </a:solidFill>
                <a:latin typeface="Consolas"/>
              </a:rPr>
              <a:t>'</a:t>
            </a:r>
            <a:r>
              <a:rPr sz="2000">
                <a:solidFill>
                  <a:srgbClr val="98C379"/>
                </a:solidFill>
                <a:latin typeface="Consolas"/>
              </a:rPr>
              <a:t>Hello, AsyncIO!</a:t>
            </a:r>
            <a:r>
              <a:rPr sz="2000">
                <a:solidFill>
                  <a:srgbClr val="98C379"/>
                </a:solidFill>
                <a:latin typeface="Consolas"/>
              </a:rPr>
              <a:t>'</a:t>
            </a:r>
            <a:r>
              <a:rPr sz="2000">
                <a:solidFill>
                  <a:srgbClr val="ABB2BF"/>
                </a:solidFill>
                <a:latin typeface="Consolas"/>
              </a:rPr>
              <a:t>)</a:t>
            </a:r>
          </a:p>
          <a:p>
            <a:pPr>
              <a:spcAft>
                <a:spcPts val="200"/>
              </a:spcAft>
              <a:defRPr sz="2000">
                <a:latin typeface="Consolas"/>
              </a:defRPr>
            </a:pPr>
            <a:r>
              <a:rPr sz="2000">
                <a:solidFill>
                  <a:srgbClr val="E5C07B"/>
                </a:solidFill>
                <a:latin typeface="Consolas"/>
              </a:rPr>
              <a:t>print</a:t>
            </a:r>
            <a:r>
              <a:rPr sz="2000">
                <a:solidFill>
                  <a:srgbClr val="ABB2BF"/>
                </a:solidFill>
                <a:latin typeface="Consolas"/>
              </a:rPr>
              <a:t>(</a:t>
            </a:r>
            <a:r>
              <a:rPr sz="2000">
                <a:solidFill>
                  <a:srgbClr val="98C379"/>
                </a:solidFill>
                <a:latin typeface="Consolas"/>
              </a:rPr>
              <a:t>'</a:t>
            </a:r>
            <a:r>
              <a:rPr sz="2000">
                <a:solidFill>
                  <a:srgbClr val="98C379"/>
                </a:solidFill>
                <a:latin typeface="Consolas"/>
              </a:rPr>
              <a:t>File written</a:t>
            </a:r>
            <a:r>
              <a:rPr sz="2000">
                <a:solidFill>
                  <a:srgbClr val="98C379"/>
                </a:solidFill>
                <a:latin typeface="Consolas"/>
              </a:rPr>
              <a:t>'</a:t>
            </a:r>
            <a:r>
              <a:rPr sz="2000">
                <a:solidFill>
                  <a:srgbClr val="ABB2BF"/>
                </a:solidFill>
                <a:latin typeface="Consolas"/>
              </a:rPr>
              <a:t>)</a:t>
            </a:r>
          </a:p>
          <a:p>
            <a:pPr>
              <a:spcAft>
                <a:spcPts val="200"/>
              </a:spcAft>
              <a:defRPr sz="2000">
                <a:latin typeface="Consolas"/>
              </a:defRPr>
            </a:pPr>
            <a:r>
              <a:rPr sz="2000">
                <a:solidFill>
                  <a:srgbClr val="F0F4FA"/>
                </a:solidFill>
                <a:latin typeface="Consolas"/>
              </a:rPr>
              <a:t>asyncio</a:t>
            </a:r>
            <a:r>
              <a:rPr sz="2000">
                <a:solidFill>
                  <a:srgbClr val="56B6C2"/>
                </a:solidFill>
                <a:latin typeface="Consolas"/>
              </a:rPr>
              <a:t>.</a:t>
            </a:r>
            <a:r>
              <a:rPr sz="2000">
                <a:solidFill>
                  <a:srgbClr val="F0F4FA"/>
                </a:solidFill>
                <a:latin typeface="Consolas"/>
              </a:rPr>
              <a:t>run</a:t>
            </a:r>
            <a:r>
              <a:rPr sz="2000">
                <a:solidFill>
                  <a:srgbClr val="ABB2BF"/>
                </a:solidFill>
                <a:latin typeface="Consolas"/>
              </a:rPr>
              <a:t>(</a:t>
            </a:r>
            <a:r>
              <a:rPr sz="2000">
                <a:solidFill>
                  <a:srgbClr val="F0F4FA"/>
                </a:solidFill>
                <a:latin typeface="Consolas"/>
              </a:rPr>
              <a:t>custom_coroutine</a:t>
            </a:r>
            <a:r>
              <a:rPr sz="2000">
                <a:solidFill>
                  <a:srgbClr val="ABB2BF"/>
                </a:solidFill>
                <a:latin typeface="Consolas"/>
              </a:rPr>
              <a:t>(</a:t>
            </a:r>
            <a:r>
              <a:rPr sz="2000">
                <a:solidFill>
                  <a:srgbClr val="98C379"/>
                </a:solidFill>
                <a:latin typeface="Consolas"/>
              </a:rPr>
              <a:t>'</a:t>
            </a:r>
            <a:r>
              <a:rPr sz="2000">
                <a:solidFill>
                  <a:srgbClr val="98C379"/>
                </a:solidFill>
                <a:latin typeface="Consolas"/>
              </a:rPr>
              <a:t>output.txt</a:t>
            </a:r>
            <a:r>
              <a:rPr sz="2000">
                <a:solidFill>
                  <a:srgbClr val="98C379"/>
                </a:solidFill>
                <a:latin typeface="Consolas"/>
              </a:rPr>
              <a:t>'</a:t>
            </a:r>
            <a:r>
              <a:rPr sz="2000">
                <a:solidFill>
                  <a:srgbClr val="ABB2BF"/>
                </a:solidFill>
                <a:latin typeface="Consolas"/>
              </a:rPr>
              <a:t>)</a:t>
            </a:r>
            <a:r>
              <a:rPr sz="2000">
                <a:solidFill>
                  <a:srgbClr val="ABB2BF"/>
                </a:solidFill>
                <a:latin typeface="Consolas"/>
              </a:rPr>
              <a:t>)</a:t>
            </a:r>
          </a:p>
          <a:p>
            <a:pPr>
              <a:spcBef>
                <a:spcPts val="1200"/>
              </a:spcBef>
            </a:pPr>
            <a:r>
              <a:rPr sz="1800" b="1">
                <a:solidFill>
                  <a:srgbClr val="4ADE80"/>
                </a:solidFill>
                <a:latin typeface="Consolas"/>
              </a:rPr>
              <a:t>Expected Output: </a:t>
            </a:r>
            <a:r>
              <a:rPr sz="1800">
                <a:solidFill>
                  <a:srgbClr val="E2E8F0"/>
                </a:solidFill>
                <a:latin typeface="Consolas"/>
              </a:rPr>
              <a:t>Execution verified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DPU_backgroun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981199" y="1079500"/>
            <a:ext cx="8229599" cy="438149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4400" b="1">
                <a:solidFill>
                  <a:srgbClr val="00132A"/>
                </a:solidFill>
                <a:latin typeface="Arial"/>
              </a:defRPr>
            </a:pPr>
            <a:r>
              <a:t>Exercise: Simple Async Task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981199" y="6095999"/>
            <a:ext cx="8229599" cy="152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>
                <a:solidFill>
                  <a:srgbClr val="64748B"/>
                </a:solidFill>
                <a:latin typeface="Segoe UI"/>
              </a:defRPr>
            </a:pPr>
            <a:r>
              <a:t>DPU   •   Exercise: Simple Async Task   •   Slide 7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981199" y="1695449"/>
            <a:ext cx="3505199" cy="215900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5740399" y="1695449"/>
            <a:ext cx="4470399" cy="2159000"/>
          </a:xfrm>
          <a:prstGeom prst="roundRect">
            <a:avLst/>
          </a:prstGeom>
          <a:solidFill>
            <a:srgbClr val="1E1E2E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ctr">
              <a:spcAft>
                <a:spcPts val="800"/>
              </a:spcAft>
              <a:defRPr sz="1200">
                <a:solidFill>
                  <a:srgbClr val="60A5FA"/>
                </a:solidFill>
                <a:latin typeface="Consolas"/>
              </a:defRPr>
            </a:pPr>
            <a:r>
              <a:t>// Language: PYTHON 3.12.8</a:t>
            </a:r>
          </a:p>
          <a:p>
            <a:pPr>
              <a:spcAft>
                <a:spcPts val="200"/>
              </a:spcAft>
              <a:defRPr sz="2000">
                <a:latin typeface="Consolas"/>
              </a:defRPr>
            </a:pPr>
            <a:r>
              <a:rPr sz="2000">
                <a:solidFill>
                  <a:srgbClr val="C678DD"/>
                </a:solidFill>
                <a:latin typeface="Consolas"/>
              </a:rPr>
              <a:t>async</a:t>
            </a:r>
            <a:r>
              <a:rPr sz="2000">
                <a:solidFill>
                  <a:srgbClr val="F0F4FA"/>
                </a:solidFill>
                <a:latin typeface="Consolas"/>
              </a:rPr>
              <a:t> </a:t>
            </a:r>
            <a:r>
              <a:rPr sz="2000">
                <a:solidFill>
                  <a:srgbClr val="C678DD"/>
                </a:solidFill>
                <a:latin typeface="Consolas"/>
              </a:rPr>
              <a:t>def</a:t>
            </a:r>
            <a:r>
              <a:rPr sz="2000">
                <a:solidFill>
                  <a:srgbClr val="F0F4FA"/>
                </a:solidFill>
                <a:latin typeface="Consolas"/>
              </a:rPr>
              <a:t> </a:t>
            </a:r>
            <a:r>
              <a:rPr sz="2000">
                <a:solidFill>
                  <a:srgbClr val="61AFEF"/>
                </a:solidFill>
                <a:latin typeface="Consolas"/>
              </a:rPr>
              <a:t>read_file</a:t>
            </a:r>
            <a:r>
              <a:rPr sz="2000">
                <a:solidFill>
                  <a:srgbClr val="ABB2BF"/>
                </a:solidFill>
                <a:latin typeface="Consolas"/>
              </a:rPr>
              <a:t>(</a:t>
            </a:r>
            <a:r>
              <a:rPr sz="2000">
                <a:solidFill>
                  <a:srgbClr val="F0F4FA"/>
                </a:solidFill>
                <a:latin typeface="Consolas"/>
              </a:rPr>
              <a:t>file_path</a:t>
            </a:r>
            <a:r>
              <a:rPr sz="2000">
                <a:solidFill>
                  <a:srgbClr val="ABB2BF"/>
                </a:solidFill>
                <a:latin typeface="Consolas"/>
              </a:rPr>
              <a:t>)</a:t>
            </a:r>
            <a:r>
              <a:rPr sz="2000">
                <a:solidFill>
                  <a:srgbClr val="ABB2BF"/>
                </a:solidFill>
                <a:latin typeface="Consolas"/>
              </a:rPr>
              <a:t>:</a:t>
            </a:r>
          </a:p>
          <a:p>
            <a:pPr>
              <a:spcAft>
                <a:spcPts val="200"/>
              </a:spcAft>
              <a:defRPr sz="2000">
                <a:latin typeface="Consolas"/>
              </a:defRPr>
            </a:pPr>
            <a:r>
              <a:rPr sz="2000">
                <a:solidFill>
                  <a:srgbClr val="C678DD"/>
                </a:solidFill>
                <a:latin typeface="Consolas"/>
              </a:rPr>
              <a:t>with</a:t>
            </a:r>
            <a:r>
              <a:rPr sz="2000">
                <a:solidFill>
                  <a:srgbClr val="F0F4FA"/>
                </a:solidFill>
                <a:latin typeface="Consolas"/>
              </a:rPr>
              <a:t> </a:t>
            </a:r>
            <a:r>
              <a:rPr sz="2000">
                <a:solidFill>
                  <a:srgbClr val="E5C07B"/>
                </a:solidFill>
                <a:latin typeface="Consolas"/>
              </a:rPr>
              <a:t>open</a:t>
            </a:r>
            <a:r>
              <a:rPr sz="2000">
                <a:solidFill>
                  <a:srgbClr val="ABB2BF"/>
                </a:solidFill>
                <a:latin typeface="Consolas"/>
              </a:rPr>
              <a:t>(</a:t>
            </a:r>
            <a:r>
              <a:rPr sz="2000">
                <a:solidFill>
                  <a:srgbClr val="F0F4FA"/>
                </a:solidFill>
                <a:latin typeface="Consolas"/>
              </a:rPr>
              <a:t>file_path</a:t>
            </a:r>
            <a:r>
              <a:rPr sz="2000">
                <a:solidFill>
                  <a:srgbClr val="ABB2BF"/>
                </a:solidFill>
                <a:latin typeface="Consolas"/>
              </a:rPr>
              <a:t>,</a:t>
            </a:r>
            <a:r>
              <a:rPr sz="2000">
                <a:solidFill>
                  <a:srgbClr val="F0F4FA"/>
                </a:solidFill>
                <a:latin typeface="Consolas"/>
              </a:rPr>
              <a:t> </a:t>
            </a:r>
            <a:r>
              <a:rPr sz="2000">
                <a:solidFill>
                  <a:srgbClr val="98C379"/>
                </a:solidFill>
                <a:latin typeface="Consolas"/>
              </a:rPr>
              <a:t>'</a:t>
            </a:r>
            <a:r>
              <a:rPr sz="2000">
                <a:solidFill>
                  <a:srgbClr val="98C379"/>
                </a:solidFill>
                <a:latin typeface="Consolas"/>
              </a:rPr>
              <a:t>r</a:t>
            </a:r>
            <a:r>
              <a:rPr sz="2000">
                <a:solidFill>
                  <a:srgbClr val="98C379"/>
                </a:solidFill>
                <a:latin typeface="Consolas"/>
              </a:rPr>
              <a:t>'</a:t>
            </a:r>
            <a:r>
              <a:rPr sz="2000">
                <a:solidFill>
                  <a:srgbClr val="ABB2BF"/>
                </a:solidFill>
                <a:latin typeface="Consolas"/>
              </a:rPr>
              <a:t>)</a:t>
            </a:r>
            <a:r>
              <a:rPr sz="2000">
                <a:solidFill>
                  <a:srgbClr val="F0F4FA"/>
                </a:solidFill>
                <a:latin typeface="Consolas"/>
              </a:rPr>
              <a:t> </a:t>
            </a:r>
            <a:r>
              <a:rPr sz="2000">
                <a:solidFill>
                  <a:srgbClr val="C678DD"/>
                </a:solidFill>
                <a:latin typeface="Consolas"/>
              </a:rPr>
              <a:t>as</a:t>
            </a:r>
            <a:r>
              <a:rPr sz="2000">
                <a:solidFill>
                  <a:srgbClr val="F0F4FA"/>
                </a:solidFill>
                <a:latin typeface="Consolas"/>
              </a:rPr>
              <a:t> </a:t>
            </a:r>
            <a:r>
              <a:rPr sz="2000">
                <a:solidFill>
                  <a:srgbClr val="F0F4FA"/>
                </a:solidFill>
                <a:latin typeface="Consolas"/>
              </a:rPr>
              <a:t>file</a:t>
            </a:r>
            <a:r>
              <a:rPr sz="2000">
                <a:solidFill>
                  <a:srgbClr val="ABB2BF"/>
                </a:solidFill>
                <a:latin typeface="Consolas"/>
              </a:rPr>
              <a:t>:</a:t>
            </a:r>
          </a:p>
          <a:p>
            <a:pPr>
              <a:spcAft>
                <a:spcPts val="200"/>
              </a:spcAft>
              <a:defRPr sz="2000">
                <a:latin typeface="Consolas"/>
              </a:defRPr>
            </a:pPr>
            <a:r>
              <a:rPr sz="2000">
                <a:solidFill>
                  <a:srgbClr val="C678DD"/>
                </a:solidFill>
                <a:latin typeface="Consolas"/>
              </a:rPr>
              <a:t>async</a:t>
            </a:r>
            <a:r>
              <a:rPr sz="2000">
                <a:solidFill>
                  <a:srgbClr val="F0F4FA"/>
                </a:solidFill>
                <a:latin typeface="Consolas"/>
              </a:rPr>
              <a:t> </a:t>
            </a:r>
            <a:r>
              <a:rPr sz="2000">
                <a:solidFill>
                  <a:srgbClr val="C678DD"/>
                </a:solidFill>
                <a:latin typeface="Consolas"/>
              </a:rPr>
              <a:t>for</a:t>
            </a:r>
            <a:r>
              <a:rPr sz="2000">
                <a:solidFill>
                  <a:srgbClr val="F0F4FA"/>
                </a:solidFill>
                <a:latin typeface="Consolas"/>
              </a:rPr>
              <a:t> </a:t>
            </a:r>
            <a:r>
              <a:rPr sz="2000">
                <a:solidFill>
                  <a:srgbClr val="F0F4FA"/>
                </a:solidFill>
                <a:latin typeface="Consolas"/>
              </a:rPr>
              <a:t>line</a:t>
            </a:r>
            <a:r>
              <a:rPr sz="2000">
                <a:solidFill>
                  <a:srgbClr val="F0F4FA"/>
                </a:solidFill>
                <a:latin typeface="Consolas"/>
              </a:rPr>
              <a:t> </a:t>
            </a:r>
            <a:r>
              <a:rPr sz="2000">
                <a:solidFill>
                  <a:srgbClr val="56B6C2"/>
                </a:solidFill>
                <a:latin typeface="Consolas"/>
              </a:rPr>
              <a:t>in</a:t>
            </a:r>
            <a:r>
              <a:rPr sz="2000">
                <a:solidFill>
                  <a:srgbClr val="F0F4FA"/>
                </a:solidFill>
                <a:latin typeface="Consolas"/>
              </a:rPr>
              <a:t> </a:t>
            </a:r>
            <a:r>
              <a:rPr sz="2000">
                <a:solidFill>
                  <a:srgbClr val="F0F4FA"/>
                </a:solidFill>
                <a:latin typeface="Consolas"/>
              </a:rPr>
              <a:t>file</a:t>
            </a:r>
            <a:r>
              <a:rPr sz="2000">
                <a:solidFill>
                  <a:srgbClr val="ABB2BF"/>
                </a:solidFill>
                <a:latin typeface="Consolas"/>
              </a:rPr>
              <a:t>:</a:t>
            </a:r>
          </a:p>
          <a:p>
            <a:pPr>
              <a:spcAft>
                <a:spcPts val="200"/>
              </a:spcAft>
              <a:defRPr sz="2000">
                <a:latin typeface="Consolas"/>
              </a:defRPr>
            </a:pPr>
            <a:r>
              <a:rPr sz="2000">
                <a:solidFill>
                  <a:srgbClr val="E5C07B"/>
                </a:solidFill>
                <a:latin typeface="Consolas"/>
              </a:rPr>
              <a:t>print</a:t>
            </a:r>
            <a:r>
              <a:rPr sz="2000">
                <a:solidFill>
                  <a:srgbClr val="ABB2BF"/>
                </a:solidFill>
                <a:latin typeface="Consolas"/>
              </a:rPr>
              <a:t>(</a:t>
            </a:r>
            <a:r>
              <a:rPr sz="2000">
                <a:solidFill>
                  <a:srgbClr val="F0F4FA"/>
                </a:solidFill>
                <a:latin typeface="Consolas"/>
              </a:rPr>
              <a:t>line</a:t>
            </a:r>
            <a:r>
              <a:rPr sz="2000">
                <a:solidFill>
                  <a:srgbClr val="ABB2BF"/>
                </a:solidFill>
                <a:latin typeface="Consolas"/>
              </a:rPr>
              <a:t>,</a:t>
            </a:r>
            <a:r>
              <a:rPr sz="2000">
                <a:solidFill>
                  <a:srgbClr val="F0F4FA"/>
                </a:solidFill>
                <a:latin typeface="Consolas"/>
              </a:rPr>
              <a:t> </a:t>
            </a:r>
            <a:r>
              <a:rPr sz="2000">
                <a:solidFill>
                  <a:srgbClr val="F0F4FA"/>
                </a:solidFill>
                <a:latin typeface="Consolas"/>
              </a:rPr>
              <a:t>end</a:t>
            </a:r>
            <a:r>
              <a:rPr sz="2000">
                <a:solidFill>
                  <a:srgbClr val="56B6C2"/>
                </a:solidFill>
                <a:latin typeface="Consolas"/>
              </a:rPr>
              <a:t>=</a:t>
            </a:r>
            <a:r>
              <a:rPr sz="2000">
                <a:solidFill>
                  <a:srgbClr val="98C379"/>
                </a:solidFill>
                <a:latin typeface="Consolas"/>
              </a:rPr>
              <a:t>'</a:t>
            </a:r>
            <a:r>
              <a:rPr sz="2000">
                <a:solidFill>
                  <a:srgbClr val="98C379"/>
                </a:solidFill>
                <a:latin typeface="Consolas"/>
              </a:rPr>
              <a:t>'</a:t>
            </a:r>
            <a:r>
              <a:rPr sz="2000">
                <a:solidFill>
                  <a:srgbClr val="ABB2BF"/>
                </a:solidFill>
                <a:latin typeface="Consolas"/>
              </a:rPr>
              <a:t>)</a:t>
            </a:r>
          </a:p>
          <a:p>
            <a:pPr>
              <a:spcAft>
                <a:spcPts val="200"/>
              </a:spcAft>
              <a:defRPr sz="2000">
                <a:latin typeface="Consolas"/>
              </a:defRPr>
            </a:pPr>
            <a:r>
              <a:rPr sz="2000">
                <a:solidFill>
                  <a:srgbClr val="F0F4FA"/>
                </a:solidFill>
                <a:latin typeface="Consolas"/>
              </a:rPr>
              <a:t>asyncio</a:t>
            </a:r>
            <a:r>
              <a:rPr sz="2000">
                <a:solidFill>
                  <a:srgbClr val="56B6C2"/>
                </a:solidFill>
                <a:latin typeface="Consolas"/>
              </a:rPr>
              <a:t>.</a:t>
            </a:r>
            <a:r>
              <a:rPr sz="2000">
                <a:solidFill>
                  <a:srgbClr val="F0F4FA"/>
                </a:solidFill>
                <a:latin typeface="Consolas"/>
              </a:rPr>
              <a:t>run</a:t>
            </a:r>
            <a:r>
              <a:rPr sz="2000">
                <a:solidFill>
                  <a:srgbClr val="ABB2BF"/>
                </a:solidFill>
                <a:latin typeface="Consolas"/>
              </a:rPr>
              <a:t>(</a:t>
            </a:r>
            <a:r>
              <a:rPr sz="2000">
                <a:solidFill>
                  <a:srgbClr val="F0F4FA"/>
                </a:solidFill>
                <a:latin typeface="Consolas"/>
              </a:rPr>
              <a:t>read_file</a:t>
            </a:r>
            <a:r>
              <a:rPr sz="2000">
                <a:solidFill>
                  <a:srgbClr val="ABB2BF"/>
                </a:solidFill>
                <a:latin typeface="Consolas"/>
              </a:rPr>
              <a:t>(</a:t>
            </a:r>
            <a:r>
              <a:rPr sz="2000">
                <a:solidFill>
                  <a:srgbClr val="98C379"/>
                </a:solidFill>
                <a:latin typeface="Consolas"/>
              </a:rPr>
              <a:t>'</a:t>
            </a:r>
            <a:r>
              <a:rPr sz="2000">
                <a:solidFill>
                  <a:srgbClr val="98C379"/>
                </a:solidFill>
                <a:latin typeface="Consolas"/>
              </a:rPr>
              <a:t>example.txt</a:t>
            </a:r>
            <a:r>
              <a:rPr sz="2000">
                <a:solidFill>
                  <a:srgbClr val="98C379"/>
                </a:solidFill>
                <a:latin typeface="Consolas"/>
              </a:rPr>
              <a:t>'</a:t>
            </a:r>
            <a:r>
              <a:rPr sz="2000">
                <a:solidFill>
                  <a:srgbClr val="ABB2BF"/>
                </a:solidFill>
                <a:latin typeface="Consolas"/>
              </a:rPr>
              <a:t>)</a:t>
            </a:r>
            <a:r>
              <a:rPr sz="2000">
                <a:solidFill>
                  <a:srgbClr val="ABB2BF"/>
                </a:solidFill>
                <a:latin typeface="Consolas"/>
              </a:rPr>
              <a:t>)</a:t>
            </a:r>
          </a:p>
          <a:p>
            <a:pPr>
              <a:spcBef>
                <a:spcPts val="1200"/>
              </a:spcBef>
            </a:pPr>
            <a:r>
              <a:rPr sz="1800" b="1">
                <a:solidFill>
                  <a:srgbClr val="4ADE80"/>
                </a:solidFill>
                <a:latin typeface="Consolas"/>
              </a:rPr>
              <a:t>Expected Output: </a:t>
            </a:r>
            <a:r>
              <a:rPr sz="1800">
                <a:solidFill>
                  <a:srgbClr val="E2E8F0"/>
                </a:solidFill>
                <a:latin typeface="Consolas"/>
              </a:rPr>
              <a:t>Execution verified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DPU_backgroun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981199" y="1079500"/>
            <a:ext cx="8229599" cy="438149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4400" b="1">
                <a:solidFill>
                  <a:srgbClr val="00132A"/>
                </a:solidFill>
                <a:latin typeface="Arial"/>
              </a:defRPr>
            </a:pPr>
            <a:r>
              <a:t>Python 3.12 AsyncIO &amp; High-Performance Coroutines: Part 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981199" y="6095999"/>
            <a:ext cx="8229599" cy="152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>
                <a:solidFill>
                  <a:srgbClr val="64748B"/>
                </a:solidFill>
                <a:latin typeface="Segoe UI"/>
              </a:defRPr>
            </a:pPr>
            <a:r>
              <a:t>DPU   •   Python 3.12 AsyncIO &amp; High-Performance Coroutines: Part 8   •   Slide 8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171699" y="1758949"/>
            <a:ext cx="7848599" cy="190499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ctr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DPU_backgroun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981199" y="1079500"/>
            <a:ext cx="8229599" cy="438149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4400" b="1">
                <a:solidFill>
                  <a:srgbClr val="00132A"/>
                </a:solidFill>
                <a:latin typeface="Arial"/>
              </a:defRPr>
            </a:pPr>
            <a:r>
              <a:t>Python 3.12 AsyncIO &amp; High-Performance Coroutines: Part 9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981199" y="6095999"/>
            <a:ext cx="8229599" cy="152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>
                <a:solidFill>
                  <a:srgbClr val="64748B"/>
                </a:solidFill>
                <a:latin typeface="Segoe UI"/>
              </a:defRPr>
            </a:pPr>
            <a:r>
              <a:t>DPU   •   Python 3.12 AsyncIO &amp; High-Performance Coroutines: Part 9   •   Slide 9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171699" y="1758949"/>
            <a:ext cx="7848599" cy="190499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ctr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